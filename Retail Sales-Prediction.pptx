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embeddedFontLst>
    <p:embeddedFont>
      <p:font typeface="Inter" panose="020B0604020202020204" charset="0"/>
      <p:regular r:id="rId19"/>
      <p:bold r:id="rId20"/>
      <p:italic r:id="rId21"/>
      <p:boldItalic r:id="rId22"/>
    </p:embeddedFont>
    <p:embeddedFont>
      <p:font typeface="JetBrains Mono" panose="020B0604020202020204" charset="0"/>
      <p:regular r:id="rId23"/>
      <p:bold r:id="rId24"/>
      <p:italic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22B5880-0A1A-49A4-B1EC-A0E486FE1100}">
  <a:tblStyle styleId="{022B5880-0A1A-49A4-B1EC-A0E486FE1100}"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1" d="100"/>
          <a:sy n="61" d="100"/>
        </p:scale>
        <p:origin x="860" y="6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1" name="Google Shape;91;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6" name="Google Shape;106;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3" name="Google Shape;1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7" name="Google Shape;147;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6" name="Google Shape;166;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0" name="Google Shape;180;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6" name="Google Shape;19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9" name="Google Shape;239;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6" name="Google Shape;266;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1" name="Google Shape;29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1" name="Google Shape;30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4" name="Google Shape;314;p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3" name="Google Shape;333;p1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9" name="Google Shape;349;p1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pn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png"/><Relationship Id="rId7"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 Id="rId9" Type="http://schemas.openxmlformats.org/officeDocument/2006/relationships/image" Target="../media/image19.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1.png"/><Relationship Id="rId7"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5.png"/><Relationship Id="rId11" Type="http://schemas.openxmlformats.org/officeDocument/2006/relationships/image" Target="../media/image30.png"/><Relationship Id="rId5" Type="http://schemas.openxmlformats.org/officeDocument/2006/relationships/image" Target="../media/image24.png"/><Relationship Id="rId10" Type="http://schemas.openxmlformats.org/officeDocument/2006/relationships/image" Target="../media/image29.png"/><Relationship Id="rId4" Type="http://schemas.openxmlformats.org/officeDocument/2006/relationships/image" Target="../media/image23.png"/><Relationship Id="rId9" Type="http://schemas.openxmlformats.org/officeDocument/2006/relationships/image" Target="../media/image28.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4.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36.png"/><Relationship Id="rId4" Type="http://schemas.openxmlformats.org/officeDocument/2006/relationships/image" Target="../media/image35.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37.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png"/><Relationship Id="rId7" Type="http://schemas.openxmlformats.org/officeDocument/2006/relationships/image" Target="../media/image41.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 Id="rId9" Type="http://schemas.openxmlformats.org/officeDocument/2006/relationships/image" Target="../media/image43.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85" name="Google Shape;85;p13" descr="image.png"/>
          <p:cNvPicPr preferRelativeResize="0"/>
          <p:nvPr/>
        </p:nvPicPr>
        <p:blipFill rotWithShape="1">
          <a:blip r:embed="rId4">
            <a:alphaModFix/>
          </a:blip>
          <a:srcRect/>
          <a:stretch/>
        </p:blipFill>
        <p:spPr>
          <a:xfrm>
            <a:off x="581025" y="1778347"/>
            <a:ext cx="11029950" cy="923925"/>
          </a:xfrm>
          <a:prstGeom prst="rect">
            <a:avLst/>
          </a:prstGeom>
          <a:noFill/>
          <a:ln>
            <a:noFill/>
          </a:ln>
        </p:spPr>
      </p:pic>
      <p:sp>
        <p:nvSpPr>
          <p:cNvPr id="86" name="Google Shape;86;p13"/>
          <p:cNvSpPr txBox="1"/>
          <p:nvPr/>
        </p:nvSpPr>
        <p:spPr>
          <a:xfrm>
            <a:off x="305276" y="1778347"/>
            <a:ext cx="11581447" cy="670470"/>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en-US" sz="4800" b="1" i="0" u="none" strike="noStrike" cap="none" dirty="0">
                <a:solidFill>
                  <a:srgbClr val="F1F5F9"/>
                </a:solidFill>
                <a:latin typeface="Inter"/>
                <a:ea typeface="Inter"/>
                <a:cs typeface="Inter"/>
                <a:sym typeface="Inter"/>
              </a:rPr>
              <a:t>Retail Sales Prediction</a:t>
            </a:r>
            <a:endParaRPr dirty="0"/>
          </a:p>
        </p:txBody>
      </p:sp>
      <p:sp>
        <p:nvSpPr>
          <p:cNvPr id="87" name="Google Shape;87;p13"/>
          <p:cNvSpPr txBox="1"/>
          <p:nvPr/>
        </p:nvSpPr>
        <p:spPr>
          <a:xfrm>
            <a:off x="581025" y="3175620"/>
            <a:ext cx="11029950" cy="590931"/>
          </a:xfrm>
          <a:prstGeom prst="rect">
            <a:avLst/>
          </a:prstGeom>
          <a:noFill/>
          <a:ln>
            <a:noFill/>
          </a:ln>
        </p:spPr>
        <p:txBody>
          <a:bodyPr spcFirstLastPara="1" wrap="square" lIns="0" tIns="0" rIns="0" bIns="0" anchor="t" anchorCtr="0">
            <a:spAutoFit/>
          </a:bodyPr>
          <a:lstStyle/>
          <a:p>
            <a:pPr marL="0" marR="0" lvl="0" indent="0" algn="ctr" rtl="0">
              <a:lnSpc>
                <a:spcPct val="159944"/>
              </a:lnSpc>
              <a:spcBef>
                <a:spcPts val="0"/>
              </a:spcBef>
              <a:spcAft>
                <a:spcPts val="0"/>
              </a:spcAft>
              <a:buNone/>
            </a:pPr>
            <a:r>
              <a:rPr lang="en-US" sz="2400" b="0" i="0" u="none" strike="noStrike" cap="none" dirty="0">
                <a:solidFill>
                  <a:srgbClr val="94A3B8"/>
                </a:solidFill>
                <a:latin typeface="Inter"/>
                <a:ea typeface="Inter"/>
                <a:cs typeface="Inter"/>
                <a:sym typeface="Inter"/>
              </a:rPr>
              <a:t>A Capstone-Style Analysis of Market Dynamics</a:t>
            </a:r>
            <a:endParaRPr sz="1800" dirty="0"/>
          </a:p>
        </p:txBody>
      </p:sp>
      <p:sp>
        <p:nvSpPr>
          <p:cNvPr id="88" name="Google Shape;88;p13"/>
          <p:cNvSpPr txBox="1"/>
          <p:nvPr/>
        </p:nvSpPr>
        <p:spPr>
          <a:xfrm>
            <a:off x="581025" y="4633763"/>
            <a:ext cx="11029950" cy="492443"/>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2000" b="0" i="0" u="none" strike="noStrike" cap="none" dirty="0">
                <a:solidFill>
                  <a:srgbClr val="64748B"/>
                </a:solidFill>
                <a:latin typeface="Inter"/>
                <a:ea typeface="Inter"/>
                <a:cs typeface="Inter"/>
                <a:sym typeface="Inter"/>
              </a:rPr>
              <a:t>Machine Learning Pipeline • </a:t>
            </a:r>
            <a:r>
              <a:rPr lang="en-US" sz="2000" b="0" i="0" u="none" strike="noStrike" cap="none" dirty="0" err="1">
                <a:solidFill>
                  <a:srgbClr val="64748B"/>
                </a:solidFill>
                <a:latin typeface="Inter"/>
                <a:ea typeface="Inter"/>
                <a:cs typeface="Inter"/>
                <a:sym typeface="Inter"/>
              </a:rPr>
              <a:t>XGBoost</a:t>
            </a:r>
            <a:r>
              <a:rPr lang="en-US" sz="2000" b="0" i="0" u="none" strike="noStrike" cap="none" dirty="0">
                <a:solidFill>
                  <a:srgbClr val="64748B"/>
                </a:solidFill>
                <a:latin typeface="Inter"/>
                <a:ea typeface="Inter"/>
                <a:cs typeface="Inter"/>
                <a:sym typeface="Inter"/>
              </a:rPr>
              <a:t> vs Random Forest • SHAP Explainability</a:t>
            </a:r>
            <a:endParaRPr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Shape 92"/>
        <p:cNvGrpSpPr/>
        <p:nvPr/>
      </p:nvGrpSpPr>
      <p:grpSpPr>
        <a:xfrm>
          <a:off x="0" y="0"/>
          <a:ext cx="0" cy="0"/>
          <a:chOff x="0" y="0"/>
          <a:chExt cx="0" cy="0"/>
        </a:xfrm>
      </p:grpSpPr>
      <p:pic>
        <p:nvPicPr>
          <p:cNvPr id="93" name="Google Shape;93;p14"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94" name="Google Shape;94;p14" descr="image.png"/>
          <p:cNvPicPr preferRelativeResize="0"/>
          <p:nvPr/>
        </p:nvPicPr>
        <p:blipFill rotWithShape="1">
          <a:blip r:embed="rId4">
            <a:alphaModFix/>
          </a:blip>
          <a:srcRect/>
          <a:stretch/>
        </p:blipFill>
        <p:spPr>
          <a:xfrm>
            <a:off x="581025" y="1824037"/>
            <a:ext cx="5229225" cy="4276725"/>
          </a:xfrm>
          <a:prstGeom prst="rect">
            <a:avLst/>
          </a:prstGeom>
          <a:noFill/>
          <a:ln>
            <a:noFill/>
          </a:ln>
        </p:spPr>
      </p:pic>
      <p:pic>
        <p:nvPicPr>
          <p:cNvPr id="95" name="Google Shape;95;p14" descr="image.png"/>
          <p:cNvPicPr preferRelativeResize="0"/>
          <p:nvPr/>
        </p:nvPicPr>
        <p:blipFill rotWithShape="1">
          <a:blip r:embed="rId5">
            <a:alphaModFix/>
          </a:blip>
          <a:srcRect/>
          <a:stretch/>
        </p:blipFill>
        <p:spPr>
          <a:xfrm>
            <a:off x="6381750" y="1824037"/>
            <a:ext cx="5229225" cy="4276725"/>
          </a:xfrm>
          <a:prstGeom prst="rect">
            <a:avLst/>
          </a:prstGeom>
          <a:noFill/>
          <a:ln>
            <a:noFill/>
          </a:ln>
        </p:spPr>
      </p:pic>
      <p:sp>
        <p:nvSpPr>
          <p:cNvPr id="96" name="Google Shape;96;p14"/>
          <p:cNvSpPr txBox="1"/>
          <p:nvPr/>
        </p:nvSpPr>
        <p:spPr>
          <a:xfrm>
            <a:off x="581025" y="581025"/>
            <a:ext cx="11581447" cy="495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F1F5F9"/>
                </a:solidFill>
                <a:latin typeface="Inter"/>
                <a:ea typeface="Inter"/>
                <a:cs typeface="Inter"/>
                <a:sym typeface="Inter"/>
              </a:rPr>
              <a:t>The Challenge &amp; Objective</a:t>
            </a:r>
            <a:endParaRPr/>
          </a:p>
        </p:txBody>
      </p:sp>
      <p:sp>
        <p:nvSpPr>
          <p:cNvPr id="97" name="Google Shape;97;p14"/>
          <p:cNvSpPr/>
          <p:nvPr/>
        </p:nvSpPr>
        <p:spPr>
          <a:xfrm>
            <a:off x="581025" y="1257300"/>
            <a:ext cx="11029950"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8" name="Google Shape;98;p14"/>
          <p:cNvSpPr txBox="1"/>
          <p:nvPr/>
        </p:nvSpPr>
        <p:spPr>
          <a:xfrm>
            <a:off x="971550" y="2871787"/>
            <a:ext cx="4670583"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60A5FA"/>
                </a:solidFill>
                <a:latin typeface="Inter"/>
                <a:ea typeface="Inter"/>
                <a:cs typeface="Inter"/>
                <a:sym typeface="Inter"/>
              </a:rPr>
              <a:t>The Problem</a:t>
            </a:r>
            <a:endParaRPr/>
          </a:p>
        </p:txBody>
      </p:sp>
      <p:sp>
        <p:nvSpPr>
          <p:cNvPr id="99" name="Google Shape;99;p14"/>
          <p:cNvSpPr txBox="1"/>
          <p:nvPr/>
        </p:nvSpPr>
        <p:spPr>
          <a:xfrm>
            <a:off x="971550" y="3386137"/>
            <a:ext cx="4448175" cy="2133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dirty="0">
                <a:solidFill>
                  <a:srgbClr val="CBD5E1"/>
                </a:solidFill>
                <a:latin typeface="Inter"/>
                <a:ea typeface="Inter"/>
                <a:cs typeface="Inter"/>
                <a:sym typeface="Inter"/>
              </a:rPr>
              <a:t>Retailers face significant losses due to inaccurate sales forecasting. Overstocking leads to high holding costs, while understocking results in lost revenue and customer dissatisfaction. Traditional linear models fail to capture complex, non-linear shopping behaviors.</a:t>
            </a:r>
            <a:endParaRPr dirty="0"/>
          </a:p>
        </p:txBody>
      </p:sp>
      <p:sp>
        <p:nvSpPr>
          <p:cNvPr id="100" name="Google Shape;100;p14"/>
          <p:cNvSpPr txBox="1"/>
          <p:nvPr/>
        </p:nvSpPr>
        <p:spPr>
          <a:xfrm>
            <a:off x="6772275" y="2871787"/>
            <a:ext cx="4670583"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60A5FA"/>
                </a:solidFill>
                <a:latin typeface="Inter"/>
                <a:ea typeface="Inter"/>
                <a:cs typeface="Inter"/>
                <a:sym typeface="Inter"/>
              </a:rPr>
              <a:t>The Objective</a:t>
            </a:r>
            <a:endParaRPr/>
          </a:p>
        </p:txBody>
      </p:sp>
      <p:sp>
        <p:nvSpPr>
          <p:cNvPr id="101" name="Google Shape;101;p14"/>
          <p:cNvSpPr txBox="1"/>
          <p:nvPr/>
        </p:nvSpPr>
        <p:spPr>
          <a:xfrm>
            <a:off x="6772275" y="3386137"/>
            <a:ext cx="4448175" cy="1828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CBD5E1"/>
                </a:solidFill>
                <a:latin typeface="Inter"/>
                <a:ea typeface="Inter"/>
                <a:cs typeface="Inter"/>
                <a:sym typeface="Inter"/>
              </a:rPr>
              <a:t>Develop an end-to-end Machine Learning system to accurately predict </a:t>
            </a:r>
            <a:r>
              <a:rPr lang="en-US" sz="1500" b="1" i="0" u="none" strike="noStrike" cap="none">
                <a:solidFill>
                  <a:srgbClr val="CBD5E1"/>
                </a:solidFill>
                <a:latin typeface="Inter"/>
                <a:ea typeface="Inter"/>
                <a:cs typeface="Inter"/>
                <a:sym typeface="Inter"/>
              </a:rPr>
              <a:t>total transaction value</a:t>
            </a:r>
            <a:r>
              <a:rPr lang="en-US" sz="1500" b="0" i="0" u="none" strike="noStrike" cap="none">
                <a:solidFill>
                  <a:srgbClr val="CBD5E1"/>
                </a:solidFill>
                <a:latin typeface="Inter"/>
                <a:ea typeface="Inter"/>
                <a:cs typeface="Inter"/>
                <a:sym typeface="Inter"/>
              </a:rPr>
              <a:t>. The goal is to minimize prediction error (RMSE) and identify key revenue drivers using interpretable AI (SHAP) to inform strategic decision-making.</a:t>
            </a:r>
            <a:endParaRPr/>
          </a:p>
        </p:txBody>
      </p:sp>
      <p:pic>
        <p:nvPicPr>
          <p:cNvPr id="102" name="Google Shape;102;p14" descr="image.png"/>
          <p:cNvPicPr preferRelativeResize="0"/>
          <p:nvPr/>
        </p:nvPicPr>
        <p:blipFill rotWithShape="1">
          <a:blip r:embed="rId6">
            <a:alphaModFix/>
          </a:blip>
          <a:srcRect/>
          <a:stretch/>
        </p:blipFill>
        <p:spPr>
          <a:xfrm>
            <a:off x="971550" y="2252662"/>
            <a:ext cx="381000" cy="381000"/>
          </a:xfrm>
          <a:prstGeom prst="rect">
            <a:avLst/>
          </a:prstGeom>
          <a:noFill/>
          <a:ln>
            <a:noFill/>
          </a:ln>
        </p:spPr>
      </p:pic>
      <p:pic>
        <p:nvPicPr>
          <p:cNvPr id="103" name="Google Shape;103;p14" descr="image.png"/>
          <p:cNvPicPr preferRelativeResize="0"/>
          <p:nvPr/>
        </p:nvPicPr>
        <p:blipFill rotWithShape="1">
          <a:blip r:embed="rId7">
            <a:alphaModFix/>
          </a:blip>
          <a:srcRect/>
          <a:stretch/>
        </p:blipFill>
        <p:spPr>
          <a:xfrm>
            <a:off x="6772275" y="2252662"/>
            <a:ext cx="381000" cy="3810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Shape 107"/>
        <p:cNvGrpSpPr/>
        <p:nvPr/>
      </p:nvGrpSpPr>
      <p:grpSpPr>
        <a:xfrm>
          <a:off x="0" y="0"/>
          <a:ext cx="0" cy="0"/>
          <a:chOff x="0" y="0"/>
          <a:chExt cx="0" cy="0"/>
        </a:xfrm>
      </p:grpSpPr>
      <p:pic>
        <p:nvPicPr>
          <p:cNvPr id="108" name="Google Shape;108;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09" name="Google Shape;109;p15"/>
          <p:cNvSpPr txBox="1"/>
          <p:nvPr/>
        </p:nvSpPr>
        <p:spPr>
          <a:xfrm>
            <a:off x="771525" y="781050"/>
            <a:ext cx="4790598" cy="485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F1F5F9"/>
                </a:solidFill>
                <a:latin typeface="Inter"/>
                <a:ea typeface="Inter"/>
                <a:cs typeface="Inter"/>
                <a:sym typeface="Inter"/>
              </a:rPr>
              <a:t>Data Landscape</a:t>
            </a:r>
            <a:endParaRPr/>
          </a:p>
        </p:txBody>
      </p:sp>
      <p:pic>
        <p:nvPicPr>
          <p:cNvPr id="110" name="Google Shape;110;p15" descr="image.png"/>
          <p:cNvPicPr preferRelativeResize="0"/>
          <p:nvPr/>
        </p:nvPicPr>
        <p:blipFill rotWithShape="1">
          <a:blip r:embed="rId4">
            <a:alphaModFix/>
          </a:blip>
          <a:srcRect/>
          <a:stretch/>
        </p:blipFill>
        <p:spPr>
          <a:xfrm>
            <a:off x="6096000" y="9525"/>
            <a:ext cx="6086475" cy="6838950"/>
          </a:xfrm>
          <a:prstGeom prst="rect">
            <a:avLst/>
          </a:prstGeom>
          <a:noFill/>
          <a:ln>
            <a:noFill/>
          </a:ln>
        </p:spPr>
      </p:pic>
      <p:sp>
        <p:nvSpPr>
          <p:cNvPr id="111" name="Google Shape;111;p15"/>
          <p:cNvSpPr txBox="1"/>
          <p:nvPr/>
        </p:nvSpPr>
        <p:spPr>
          <a:xfrm>
            <a:off x="1533525" y="1990725"/>
            <a:ext cx="3800475"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CBD5E1"/>
                </a:solidFill>
                <a:latin typeface="Inter"/>
                <a:ea typeface="Inter"/>
                <a:cs typeface="Inter"/>
                <a:sym typeface="Inter"/>
              </a:rPr>
              <a:t>Source:</a:t>
            </a:r>
            <a:r>
              <a:rPr lang="en-US" sz="1500" b="0" i="0" u="none" strike="noStrike" cap="none">
                <a:solidFill>
                  <a:srgbClr val="CBD5E1"/>
                </a:solidFill>
                <a:latin typeface="Inter"/>
                <a:ea typeface="Inter"/>
                <a:cs typeface="Inter"/>
                <a:sym typeface="Inter"/>
              </a:rPr>
              <a:t> Customer Shopping Data (Istanbul).</a:t>
            </a:r>
            <a:endParaRPr/>
          </a:p>
        </p:txBody>
      </p:sp>
      <p:sp>
        <p:nvSpPr>
          <p:cNvPr id="112" name="Google Shape;112;p15"/>
          <p:cNvSpPr txBox="1"/>
          <p:nvPr/>
        </p:nvSpPr>
        <p:spPr>
          <a:xfrm>
            <a:off x="1533525" y="2838450"/>
            <a:ext cx="3800475"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CBD5E1"/>
                </a:solidFill>
                <a:latin typeface="Inter"/>
                <a:ea typeface="Inter"/>
                <a:cs typeface="Inter"/>
                <a:sym typeface="Inter"/>
              </a:rPr>
              <a:t>Volume:</a:t>
            </a:r>
            <a:r>
              <a:rPr lang="en-US" sz="1500" b="0" i="0" u="none" strike="noStrike" cap="none">
                <a:solidFill>
                  <a:srgbClr val="CBD5E1"/>
                </a:solidFill>
                <a:latin typeface="Inter"/>
                <a:ea typeface="Inter"/>
                <a:cs typeface="Inter"/>
                <a:sym typeface="Inter"/>
              </a:rPr>
              <a:t> 50,000+ Real-world transaction samples.</a:t>
            </a:r>
            <a:endParaRPr/>
          </a:p>
        </p:txBody>
      </p:sp>
      <p:sp>
        <p:nvSpPr>
          <p:cNvPr id="113" name="Google Shape;113;p15"/>
          <p:cNvSpPr txBox="1"/>
          <p:nvPr/>
        </p:nvSpPr>
        <p:spPr>
          <a:xfrm>
            <a:off x="1533525" y="3686175"/>
            <a:ext cx="3800475"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CBD5E1"/>
                </a:solidFill>
                <a:latin typeface="Inter"/>
                <a:ea typeface="Inter"/>
                <a:cs typeface="Inter"/>
                <a:sym typeface="Inter"/>
              </a:rPr>
              <a:t>Span:</a:t>
            </a:r>
            <a:r>
              <a:rPr lang="en-US" sz="1500" b="0" i="0" u="none" strike="noStrike" cap="none">
                <a:solidFill>
                  <a:srgbClr val="CBD5E1"/>
                </a:solidFill>
                <a:latin typeface="Inter"/>
                <a:ea typeface="Inter"/>
                <a:cs typeface="Inter"/>
                <a:sym typeface="Inter"/>
              </a:rPr>
              <a:t> 2021 – 2023 (3 Years).</a:t>
            </a:r>
            <a:endParaRPr/>
          </a:p>
        </p:txBody>
      </p:sp>
      <p:sp>
        <p:nvSpPr>
          <p:cNvPr id="114" name="Google Shape;114;p15"/>
          <p:cNvSpPr txBox="1"/>
          <p:nvPr/>
        </p:nvSpPr>
        <p:spPr>
          <a:xfrm>
            <a:off x="1533525" y="4229100"/>
            <a:ext cx="3800475"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CBD5E1"/>
                </a:solidFill>
                <a:latin typeface="Inter"/>
                <a:ea typeface="Inter"/>
                <a:cs typeface="Inter"/>
                <a:sym typeface="Inter"/>
              </a:rPr>
              <a:t>Scope:</a:t>
            </a:r>
            <a:r>
              <a:rPr lang="en-US" sz="1500" b="0" i="0" u="none" strike="noStrike" cap="none">
                <a:solidFill>
                  <a:srgbClr val="CBD5E1"/>
                </a:solidFill>
                <a:latin typeface="Inter"/>
                <a:ea typeface="Inter"/>
                <a:cs typeface="Inter"/>
                <a:sym typeface="Inter"/>
              </a:rPr>
              <a:t> 10 Major Shopping Malls.</a:t>
            </a:r>
            <a:endParaRPr/>
          </a:p>
        </p:txBody>
      </p:sp>
      <p:sp>
        <p:nvSpPr>
          <p:cNvPr id="115" name="Google Shape;115;p15"/>
          <p:cNvSpPr txBox="1"/>
          <p:nvPr/>
        </p:nvSpPr>
        <p:spPr>
          <a:xfrm>
            <a:off x="1533525" y="4772025"/>
            <a:ext cx="3800475"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CBD5E1"/>
                </a:solidFill>
                <a:latin typeface="Inter"/>
                <a:ea typeface="Inter"/>
                <a:cs typeface="Inter"/>
                <a:sym typeface="Inter"/>
              </a:rPr>
              <a:t>Key Features:</a:t>
            </a:r>
            <a:r>
              <a:rPr lang="en-US" sz="1500" b="0" i="0" u="none" strike="noStrike" cap="none">
                <a:solidFill>
                  <a:srgbClr val="CBD5E1"/>
                </a:solidFill>
                <a:latin typeface="Inter"/>
                <a:ea typeface="Inter"/>
                <a:cs typeface="Inter"/>
                <a:sym typeface="Inter"/>
              </a:rPr>
              <a:t> Demographics (Age, Gender), Transactional (Price, Quantity), and Temporal (Date) attributes.</a:t>
            </a:r>
            <a:endParaRPr/>
          </a:p>
        </p:txBody>
      </p:sp>
      <p:pic>
        <p:nvPicPr>
          <p:cNvPr id="116" name="Google Shape;116;p15" descr="image.png"/>
          <p:cNvPicPr preferRelativeResize="0"/>
          <p:nvPr/>
        </p:nvPicPr>
        <p:blipFill rotWithShape="1">
          <a:blip r:embed="rId5">
            <a:alphaModFix/>
          </a:blip>
          <a:srcRect/>
          <a:stretch/>
        </p:blipFill>
        <p:spPr>
          <a:xfrm>
            <a:off x="1152525" y="1990725"/>
            <a:ext cx="200025" cy="247650"/>
          </a:xfrm>
          <a:prstGeom prst="rect">
            <a:avLst/>
          </a:prstGeom>
          <a:noFill/>
          <a:ln>
            <a:noFill/>
          </a:ln>
        </p:spPr>
      </p:pic>
      <p:pic>
        <p:nvPicPr>
          <p:cNvPr id="117" name="Google Shape;117;p15" descr="image.png"/>
          <p:cNvPicPr preferRelativeResize="0"/>
          <p:nvPr/>
        </p:nvPicPr>
        <p:blipFill rotWithShape="1">
          <a:blip r:embed="rId5">
            <a:alphaModFix/>
          </a:blip>
          <a:srcRect/>
          <a:stretch/>
        </p:blipFill>
        <p:spPr>
          <a:xfrm>
            <a:off x="1152525" y="2838450"/>
            <a:ext cx="200025" cy="247650"/>
          </a:xfrm>
          <a:prstGeom prst="rect">
            <a:avLst/>
          </a:prstGeom>
          <a:noFill/>
          <a:ln>
            <a:noFill/>
          </a:ln>
        </p:spPr>
      </p:pic>
      <p:pic>
        <p:nvPicPr>
          <p:cNvPr id="118" name="Google Shape;118;p15" descr="image.png"/>
          <p:cNvPicPr preferRelativeResize="0"/>
          <p:nvPr/>
        </p:nvPicPr>
        <p:blipFill rotWithShape="1">
          <a:blip r:embed="rId5">
            <a:alphaModFix/>
          </a:blip>
          <a:srcRect/>
          <a:stretch/>
        </p:blipFill>
        <p:spPr>
          <a:xfrm>
            <a:off x="1152525" y="3686175"/>
            <a:ext cx="200025" cy="247650"/>
          </a:xfrm>
          <a:prstGeom prst="rect">
            <a:avLst/>
          </a:prstGeom>
          <a:noFill/>
          <a:ln>
            <a:noFill/>
          </a:ln>
        </p:spPr>
      </p:pic>
      <p:pic>
        <p:nvPicPr>
          <p:cNvPr id="119" name="Google Shape;119;p15" descr="image.png"/>
          <p:cNvPicPr preferRelativeResize="0"/>
          <p:nvPr/>
        </p:nvPicPr>
        <p:blipFill rotWithShape="1">
          <a:blip r:embed="rId5">
            <a:alphaModFix/>
          </a:blip>
          <a:srcRect/>
          <a:stretch/>
        </p:blipFill>
        <p:spPr>
          <a:xfrm>
            <a:off x="1152525" y="4229100"/>
            <a:ext cx="200025" cy="247650"/>
          </a:xfrm>
          <a:prstGeom prst="rect">
            <a:avLst/>
          </a:prstGeom>
          <a:noFill/>
          <a:ln>
            <a:noFill/>
          </a:ln>
        </p:spPr>
      </p:pic>
      <p:pic>
        <p:nvPicPr>
          <p:cNvPr id="120" name="Google Shape;120;p15" descr="image.png"/>
          <p:cNvPicPr preferRelativeResize="0"/>
          <p:nvPr/>
        </p:nvPicPr>
        <p:blipFill rotWithShape="1">
          <a:blip r:embed="rId5">
            <a:alphaModFix/>
          </a:blip>
          <a:srcRect/>
          <a:stretch/>
        </p:blipFill>
        <p:spPr>
          <a:xfrm>
            <a:off x="1152525" y="4772025"/>
            <a:ext cx="200025" cy="2476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Shape 124"/>
        <p:cNvGrpSpPr/>
        <p:nvPr/>
      </p:nvGrpSpPr>
      <p:grpSpPr>
        <a:xfrm>
          <a:off x="0" y="0"/>
          <a:ext cx="0" cy="0"/>
          <a:chOff x="0" y="0"/>
          <a:chExt cx="0" cy="0"/>
        </a:xfrm>
      </p:grpSpPr>
      <p:pic>
        <p:nvPicPr>
          <p:cNvPr id="125" name="Google Shape;125;p16"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26" name="Google Shape;126;p16"/>
          <p:cNvSpPr txBox="1"/>
          <p:nvPr/>
        </p:nvSpPr>
        <p:spPr>
          <a:xfrm>
            <a:off x="581025" y="581025"/>
            <a:ext cx="11581447" cy="495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F1F5F9"/>
                </a:solidFill>
                <a:latin typeface="Inter"/>
                <a:ea typeface="Inter"/>
                <a:cs typeface="Inter"/>
                <a:sym typeface="Inter"/>
              </a:rPr>
              <a:t>Data Preprocessing Pipeline</a:t>
            </a:r>
            <a:endParaRPr/>
          </a:p>
        </p:txBody>
      </p:sp>
      <p:sp>
        <p:nvSpPr>
          <p:cNvPr id="127" name="Google Shape;127;p16"/>
          <p:cNvSpPr/>
          <p:nvPr/>
        </p:nvSpPr>
        <p:spPr>
          <a:xfrm>
            <a:off x="581025" y="1257300"/>
            <a:ext cx="11029950"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8" name="Google Shape;128;p16"/>
          <p:cNvSpPr/>
          <p:nvPr/>
        </p:nvSpPr>
        <p:spPr>
          <a:xfrm>
            <a:off x="581025" y="4133850"/>
            <a:ext cx="11029950" cy="38100"/>
          </a:xfrm>
          <a:prstGeom prst="roundRect">
            <a:avLst>
              <a:gd name="adj" fmla="val 16667"/>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29" name="Google Shape;129;p16" descr="image.png"/>
          <p:cNvPicPr preferRelativeResize="0"/>
          <p:nvPr/>
        </p:nvPicPr>
        <p:blipFill rotWithShape="1">
          <a:blip r:embed="rId4">
            <a:alphaModFix/>
          </a:blip>
          <a:srcRect/>
          <a:stretch/>
        </p:blipFill>
        <p:spPr>
          <a:xfrm>
            <a:off x="1578768" y="2895600"/>
            <a:ext cx="762000" cy="762000"/>
          </a:xfrm>
          <a:prstGeom prst="rect">
            <a:avLst/>
          </a:prstGeom>
          <a:noFill/>
          <a:ln>
            <a:noFill/>
          </a:ln>
        </p:spPr>
      </p:pic>
      <p:pic>
        <p:nvPicPr>
          <p:cNvPr id="130" name="Google Shape;130;p16" descr="image.png"/>
          <p:cNvPicPr preferRelativeResize="0"/>
          <p:nvPr/>
        </p:nvPicPr>
        <p:blipFill rotWithShape="1">
          <a:blip r:embed="rId4">
            <a:alphaModFix/>
          </a:blip>
          <a:srcRect/>
          <a:stretch/>
        </p:blipFill>
        <p:spPr>
          <a:xfrm>
            <a:off x="4336256" y="2895600"/>
            <a:ext cx="762000" cy="762000"/>
          </a:xfrm>
          <a:prstGeom prst="rect">
            <a:avLst/>
          </a:prstGeom>
          <a:noFill/>
          <a:ln>
            <a:noFill/>
          </a:ln>
        </p:spPr>
      </p:pic>
      <p:pic>
        <p:nvPicPr>
          <p:cNvPr id="131" name="Google Shape;131;p16" descr="image.png"/>
          <p:cNvPicPr preferRelativeResize="0"/>
          <p:nvPr/>
        </p:nvPicPr>
        <p:blipFill rotWithShape="1">
          <a:blip r:embed="rId4">
            <a:alphaModFix/>
          </a:blip>
          <a:srcRect/>
          <a:stretch/>
        </p:blipFill>
        <p:spPr>
          <a:xfrm>
            <a:off x="7093743" y="2895600"/>
            <a:ext cx="762000" cy="762000"/>
          </a:xfrm>
          <a:prstGeom prst="rect">
            <a:avLst/>
          </a:prstGeom>
          <a:noFill/>
          <a:ln>
            <a:noFill/>
          </a:ln>
        </p:spPr>
      </p:pic>
      <p:pic>
        <p:nvPicPr>
          <p:cNvPr id="132" name="Google Shape;132;p16" descr="image.png"/>
          <p:cNvPicPr preferRelativeResize="0"/>
          <p:nvPr/>
        </p:nvPicPr>
        <p:blipFill rotWithShape="1">
          <a:blip r:embed="rId4">
            <a:alphaModFix/>
          </a:blip>
          <a:srcRect/>
          <a:stretch/>
        </p:blipFill>
        <p:spPr>
          <a:xfrm>
            <a:off x="9851231" y="2895600"/>
            <a:ext cx="762000" cy="762000"/>
          </a:xfrm>
          <a:prstGeom prst="rect">
            <a:avLst/>
          </a:prstGeom>
          <a:noFill/>
          <a:ln>
            <a:noFill/>
          </a:ln>
        </p:spPr>
      </p:pic>
      <p:pic>
        <p:nvPicPr>
          <p:cNvPr id="133" name="Google Shape;133;p16" descr="image.png"/>
          <p:cNvPicPr preferRelativeResize="0"/>
          <p:nvPr/>
        </p:nvPicPr>
        <p:blipFill rotWithShape="1">
          <a:blip r:embed="rId5">
            <a:alphaModFix/>
          </a:blip>
          <a:srcRect/>
          <a:stretch/>
        </p:blipFill>
        <p:spPr>
          <a:xfrm>
            <a:off x="1788318" y="3124200"/>
            <a:ext cx="342900" cy="304800"/>
          </a:xfrm>
          <a:prstGeom prst="rect">
            <a:avLst/>
          </a:prstGeom>
          <a:noFill/>
          <a:ln>
            <a:noFill/>
          </a:ln>
        </p:spPr>
      </p:pic>
      <p:sp>
        <p:nvSpPr>
          <p:cNvPr id="134" name="Google Shape;134;p16"/>
          <p:cNvSpPr txBox="1"/>
          <p:nvPr/>
        </p:nvSpPr>
        <p:spPr>
          <a:xfrm>
            <a:off x="512087" y="3848100"/>
            <a:ext cx="2895361" cy="2476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50" b="1" i="0" u="none" strike="noStrike" cap="none">
                <a:solidFill>
                  <a:srgbClr val="FFFFFF"/>
                </a:solidFill>
                <a:latin typeface="Inter"/>
                <a:ea typeface="Inter"/>
                <a:cs typeface="Inter"/>
                <a:sym typeface="Inter"/>
              </a:rPr>
              <a:t>Cleaning</a:t>
            </a:r>
            <a:endParaRPr/>
          </a:p>
        </p:txBody>
      </p:sp>
      <p:sp>
        <p:nvSpPr>
          <p:cNvPr id="135" name="Google Shape;135;p16"/>
          <p:cNvSpPr txBox="1"/>
          <p:nvPr/>
        </p:nvSpPr>
        <p:spPr>
          <a:xfrm>
            <a:off x="581025" y="4286250"/>
            <a:ext cx="2757487" cy="1772793"/>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800" b="0" i="0" u="none" strike="noStrike" cap="none">
                <a:solidFill>
                  <a:srgbClr val="CBD5E1"/>
                </a:solidFill>
                <a:latin typeface="Inter"/>
                <a:ea typeface="Inter"/>
                <a:cs typeface="Inter"/>
                <a:sym typeface="Inter"/>
              </a:rPr>
              <a:t>Removed duplicates. Imputed </a:t>
            </a:r>
            <a:r>
              <a:rPr lang="en-US" sz="1800" b="1" i="0" u="none" strike="noStrike" cap="none">
                <a:solidFill>
                  <a:srgbClr val="10B981"/>
                </a:solidFill>
                <a:latin typeface="Inter"/>
                <a:ea typeface="Inter"/>
                <a:cs typeface="Inter"/>
                <a:sym typeface="Inter"/>
              </a:rPr>
              <a:t>0.8%</a:t>
            </a:r>
            <a:r>
              <a:rPr lang="en-US" sz="1800" b="0" i="0" u="none" strike="noStrike" cap="none">
                <a:solidFill>
                  <a:srgbClr val="CBD5E1"/>
                </a:solidFill>
                <a:latin typeface="Inter"/>
                <a:ea typeface="Inter"/>
                <a:cs typeface="Inter"/>
                <a:sym typeface="Inter"/>
              </a:rPr>
              <a:t> missing Age values with Median (34).</a:t>
            </a:r>
            <a:endParaRPr sz="1800"/>
          </a:p>
        </p:txBody>
      </p:sp>
      <p:pic>
        <p:nvPicPr>
          <p:cNvPr id="136" name="Google Shape;136;p16" descr="image.png"/>
          <p:cNvPicPr preferRelativeResize="0"/>
          <p:nvPr/>
        </p:nvPicPr>
        <p:blipFill rotWithShape="1">
          <a:blip r:embed="rId6">
            <a:alphaModFix/>
          </a:blip>
          <a:srcRect/>
          <a:stretch/>
        </p:blipFill>
        <p:spPr>
          <a:xfrm>
            <a:off x="4583906" y="3124200"/>
            <a:ext cx="266700" cy="304800"/>
          </a:xfrm>
          <a:prstGeom prst="rect">
            <a:avLst/>
          </a:prstGeom>
          <a:noFill/>
          <a:ln>
            <a:noFill/>
          </a:ln>
        </p:spPr>
      </p:pic>
      <p:sp>
        <p:nvSpPr>
          <p:cNvPr id="137" name="Google Shape;137;p16"/>
          <p:cNvSpPr txBox="1"/>
          <p:nvPr/>
        </p:nvSpPr>
        <p:spPr>
          <a:xfrm>
            <a:off x="3269575" y="3848100"/>
            <a:ext cx="2895361" cy="2476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50" b="1" i="0" u="none" strike="noStrike" cap="none">
                <a:solidFill>
                  <a:srgbClr val="FFFFFF"/>
                </a:solidFill>
                <a:latin typeface="Inter"/>
                <a:ea typeface="Inter"/>
                <a:cs typeface="Inter"/>
                <a:sym typeface="Inter"/>
              </a:rPr>
              <a:t>Time Parsing</a:t>
            </a:r>
            <a:endParaRPr/>
          </a:p>
        </p:txBody>
      </p:sp>
      <p:sp>
        <p:nvSpPr>
          <p:cNvPr id="138" name="Google Shape;138;p16"/>
          <p:cNvSpPr txBox="1"/>
          <p:nvPr/>
        </p:nvSpPr>
        <p:spPr>
          <a:xfrm>
            <a:off x="3338512" y="4286250"/>
            <a:ext cx="2757487" cy="1329595"/>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800" b="0" i="0" u="none" strike="noStrike" cap="none">
                <a:solidFill>
                  <a:srgbClr val="CBD5E1"/>
                </a:solidFill>
                <a:latin typeface="Inter"/>
                <a:ea typeface="Inter"/>
                <a:cs typeface="Inter"/>
                <a:sym typeface="Inter"/>
              </a:rPr>
              <a:t>Converted invoice_date to datetime. Extracted Year, Month, Day.</a:t>
            </a:r>
            <a:endParaRPr sz="1800"/>
          </a:p>
        </p:txBody>
      </p:sp>
      <p:pic>
        <p:nvPicPr>
          <p:cNvPr id="139" name="Google Shape;139;p16" descr="image.png"/>
          <p:cNvPicPr preferRelativeResize="0"/>
          <p:nvPr/>
        </p:nvPicPr>
        <p:blipFill rotWithShape="1">
          <a:blip r:embed="rId7">
            <a:alphaModFix/>
          </a:blip>
          <a:srcRect/>
          <a:stretch/>
        </p:blipFill>
        <p:spPr>
          <a:xfrm>
            <a:off x="7360443" y="3124200"/>
            <a:ext cx="228600" cy="304800"/>
          </a:xfrm>
          <a:prstGeom prst="rect">
            <a:avLst/>
          </a:prstGeom>
          <a:noFill/>
          <a:ln>
            <a:noFill/>
          </a:ln>
        </p:spPr>
      </p:pic>
      <p:sp>
        <p:nvSpPr>
          <p:cNvPr id="140" name="Google Shape;140;p16"/>
          <p:cNvSpPr txBox="1"/>
          <p:nvPr/>
        </p:nvSpPr>
        <p:spPr>
          <a:xfrm>
            <a:off x="6027062" y="3848100"/>
            <a:ext cx="2895361" cy="2476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50" b="1" i="0" u="none" strike="noStrike" cap="none">
                <a:solidFill>
                  <a:srgbClr val="FFFFFF"/>
                </a:solidFill>
                <a:latin typeface="Inter"/>
                <a:ea typeface="Inter"/>
                <a:cs typeface="Inter"/>
                <a:sym typeface="Inter"/>
              </a:rPr>
              <a:t>Target Creation</a:t>
            </a:r>
            <a:endParaRPr/>
          </a:p>
        </p:txBody>
      </p:sp>
      <p:sp>
        <p:nvSpPr>
          <p:cNvPr id="141" name="Google Shape;141;p16"/>
          <p:cNvSpPr txBox="1"/>
          <p:nvPr/>
        </p:nvSpPr>
        <p:spPr>
          <a:xfrm>
            <a:off x="6096000" y="4286250"/>
            <a:ext cx="2757487" cy="1473737"/>
          </a:xfrm>
          <a:prstGeom prst="rect">
            <a:avLst/>
          </a:prstGeom>
          <a:noFill/>
          <a:ln>
            <a:noFill/>
          </a:ln>
        </p:spPr>
        <p:txBody>
          <a:bodyPr spcFirstLastPara="1" wrap="square" lIns="0" tIns="0" rIns="0" bIns="0" anchor="t" anchorCtr="0">
            <a:spAutoFit/>
          </a:bodyPr>
          <a:lstStyle/>
          <a:p>
            <a:pPr marL="0" marR="0" lvl="0" indent="0" algn="ctr" rtl="0">
              <a:lnSpc>
                <a:spcPct val="133333"/>
              </a:lnSpc>
              <a:spcBef>
                <a:spcPts val="0"/>
              </a:spcBef>
              <a:spcAft>
                <a:spcPts val="0"/>
              </a:spcAft>
              <a:buNone/>
            </a:pPr>
            <a:r>
              <a:rPr lang="en-US" sz="1800" b="0" i="0" u="none" strike="noStrike" cap="none">
                <a:solidFill>
                  <a:srgbClr val="CBD5E1"/>
                </a:solidFill>
                <a:latin typeface="Inter"/>
                <a:ea typeface="Inter"/>
                <a:cs typeface="Inter"/>
                <a:sym typeface="Inter"/>
              </a:rPr>
              <a:t>Engineered Target Variable:</a:t>
            </a:r>
            <a:br>
              <a:rPr lang="en-US" sz="2400" b="0" i="0" u="none" strike="noStrike" cap="none">
                <a:solidFill>
                  <a:schemeClr val="dk1"/>
                </a:solidFill>
                <a:latin typeface="Calibri"/>
                <a:ea typeface="Calibri"/>
                <a:cs typeface="Calibri"/>
                <a:sym typeface="Calibri"/>
              </a:rPr>
            </a:br>
            <a:r>
              <a:rPr lang="en-US" sz="1800" b="0" i="0" u="none" strike="noStrike" cap="none">
                <a:solidFill>
                  <a:srgbClr val="CBD5E1"/>
                </a:solidFill>
                <a:latin typeface="Inter"/>
                <a:ea typeface="Inter"/>
                <a:cs typeface="Inter"/>
                <a:sym typeface="Inter"/>
              </a:rPr>
              <a:t>Total_Sales = Price × Quantity</a:t>
            </a:r>
            <a:endParaRPr sz="1800"/>
          </a:p>
        </p:txBody>
      </p:sp>
      <p:pic>
        <p:nvPicPr>
          <p:cNvPr id="142" name="Google Shape;142;p16" descr="image.png"/>
          <p:cNvPicPr preferRelativeResize="0"/>
          <p:nvPr/>
        </p:nvPicPr>
        <p:blipFill rotWithShape="1">
          <a:blip r:embed="rId8">
            <a:alphaModFix/>
          </a:blip>
          <a:srcRect/>
          <a:stretch/>
        </p:blipFill>
        <p:spPr>
          <a:xfrm>
            <a:off x="10079831" y="3124200"/>
            <a:ext cx="304800" cy="304800"/>
          </a:xfrm>
          <a:prstGeom prst="rect">
            <a:avLst/>
          </a:prstGeom>
          <a:noFill/>
          <a:ln>
            <a:noFill/>
          </a:ln>
        </p:spPr>
      </p:pic>
      <p:sp>
        <p:nvSpPr>
          <p:cNvPr id="143" name="Google Shape;143;p16"/>
          <p:cNvSpPr txBox="1"/>
          <p:nvPr/>
        </p:nvSpPr>
        <p:spPr>
          <a:xfrm>
            <a:off x="8784550" y="3848100"/>
            <a:ext cx="2895361" cy="2476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50" b="1" i="0" u="none" strike="noStrike" cap="none">
                <a:solidFill>
                  <a:srgbClr val="FFFFFF"/>
                </a:solidFill>
                <a:latin typeface="Inter"/>
                <a:ea typeface="Inter"/>
                <a:cs typeface="Inter"/>
                <a:sym typeface="Inter"/>
              </a:rPr>
              <a:t>Splitting</a:t>
            </a:r>
            <a:endParaRPr/>
          </a:p>
        </p:txBody>
      </p:sp>
      <p:sp>
        <p:nvSpPr>
          <p:cNvPr id="144" name="Google Shape;144;p16"/>
          <p:cNvSpPr txBox="1"/>
          <p:nvPr/>
        </p:nvSpPr>
        <p:spPr>
          <a:xfrm>
            <a:off x="8853487" y="4286250"/>
            <a:ext cx="2757487" cy="1329595"/>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800" b="0" i="0" u="none" strike="noStrike" cap="none">
                <a:solidFill>
                  <a:srgbClr val="CBD5E1"/>
                </a:solidFill>
                <a:latin typeface="Inter"/>
                <a:ea typeface="Inter"/>
                <a:cs typeface="Inter"/>
                <a:sym typeface="Inter"/>
              </a:rPr>
              <a:t>80/20 Train-Test split to ensure robust evaluation on unseen data.</a:t>
            </a:r>
            <a:endParaRPr sz="18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Shape 148"/>
        <p:cNvGrpSpPr/>
        <p:nvPr/>
      </p:nvGrpSpPr>
      <p:grpSpPr>
        <a:xfrm>
          <a:off x="0" y="0"/>
          <a:ext cx="0" cy="0"/>
          <a:chOff x="0" y="0"/>
          <a:chExt cx="0" cy="0"/>
        </a:xfrm>
      </p:grpSpPr>
      <p:pic>
        <p:nvPicPr>
          <p:cNvPr id="149" name="Google Shape;149;p17"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50" name="Google Shape;150;p17" descr="image.png"/>
          <p:cNvPicPr preferRelativeResize="0"/>
          <p:nvPr/>
        </p:nvPicPr>
        <p:blipFill rotWithShape="1">
          <a:blip r:embed="rId4">
            <a:alphaModFix/>
          </a:blip>
          <a:srcRect/>
          <a:stretch/>
        </p:blipFill>
        <p:spPr>
          <a:xfrm>
            <a:off x="581025" y="2024062"/>
            <a:ext cx="3486150" cy="3876675"/>
          </a:xfrm>
          <a:prstGeom prst="rect">
            <a:avLst/>
          </a:prstGeom>
          <a:noFill/>
          <a:ln>
            <a:noFill/>
          </a:ln>
        </p:spPr>
      </p:pic>
      <p:pic>
        <p:nvPicPr>
          <p:cNvPr id="151" name="Google Shape;151;p17" descr="image.png"/>
          <p:cNvPicPr preferRelativeResize="0"/>
          <p:nvPr/>
        </p:nvPicPr>
        <p:blipFill rotWithShape="1">
          <a:blip r:embed="rId5">
            <a:alphaModFix/>
          </a:blip>
          <a:srcRect/>
          <a:stretch/>
        </p:blipFill>
        <p:spPr>
          <a:xfrm>
            <a:off x="4352925" y="2024062"/>
            <a:ext cx="3486150" cy="3876675"/>
          </a:xfrm>
          <a:prstGeom prst="rect">
            <a:avLst/>
          </a:prstGeom>
          <a:noFill/>
          <a:ln>
            <a:noFill/>
          </a:ln>
        </p:spPr>
      </p:pic>
      <p:pic>
        <p:nvPicPr>
          <p:cNvPr id="152" name="Google Shape;152;p17" descr="image.png"/>
          <p:cNvPicPr preferRelativeResize="0"/>
          <p:nvPr/>
        </p:nvPicPr>
        <p:blipFill rotWithShape="1">
          <a:blip r:embed="rId6">
            <a:alphaModFix/>
          </a:blip>
          <a:srcRect/>
          <a:stretch/>
        </p:blipFill>
        <p:spPr>
          <a:xfrm>
            <a:off x="8124825" y="2024062"/>
            <a:ext cx="3486150" cy="3876675"/>
          </a:xfrm>
          <a:prstGeom prst="rect">
            <a:avLst/>
          </a:prstGeom>
          <a:noFill/>
          <a:ln>
            <a:noFill/>
          </a:ln>
        </p:spPr>
      </p:pic>
      <p:sp>
        <p:nvSpPr>
          <p:cNvPr id="153" name="Google Shape;153;p17"/>
          <p:cNvSpPr txBox="1"/>
          <p:nvPr/>
        </p:nvSpPr>
        <p:spPr>
          <a:xfrm>
            <a:off x="581025" y="581025"/>
            <a:ext cx="11581447" cy="495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F1F5F9"/>
                </a:solidFill>
                <a:latin typeface="Inter"/>
                <a:ea typeface="Inter"/>
                <a:cs typeface="Inter"/>
                <a:sym typeface="Inter"/>
              </a:rPr>
              <a:t>Feature Engineering Strategy</a:t>
            </a:r>
            <a:endParaRPr/>
          </a:p>
        </p:txBody>
      </p:sp>
      <p:sp>
        <p:nvSpPr>
          <p:cNvPr id="154" name="Google Shape;154;p17"/>
          <p:cNvSpPr/>
          <p:nvPr/>
        </p:nvSpPr>
        <p:spPr>
          <a:xfrm>
            <a:off x="581025" y="1257300"/>
            <a:ext cx="11029950"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5" name="Google Shape;155;p17"/>
          <p:cNvSpPr txBox="1"/>
          <p:nvPr/>
        </p:nvSpPr>
        <p:spPr>
          <a:xfrm>
            <a:off x="803910" y="3071812"/>
            <a:ext cx="3040380" cy="3238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60A5FA"/>
                </a:solidFill>
                <a:latin typeface="Inter"/>
                <a:ea typeface="Inter"/>
                <a:cs typeface="Inter"/>
                <a:sym typeface="Inter"/>
              </a:rPr>
              <a:t>Temporal Features</a:t>
            </a:r>
            <a:endParaRPr/>
          </a:p>
        </p:txBody>
      </p:sp>
      <p:sp>
        <p:nvSpPr>
          <p:cNvPr id="156" name="Google Shape;156;p17"/>
          <p:cNvSpPr txBox="1"/>
          <p:nvPr/>
        </p:nvSpPr>
        <p:spPr>
          <a:xfrm>
            <a:off x="876300" y="3586162"/>
            <a:ext cx="2895600" cy="2363724"/>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600" b="0" i="0" u="none" strike="noStrike" cap="none">
                <a:solidFill>
                  <a:srgbClr val="CBD5E1"/>
                </a:solidFill>
                <a:latin typeface="Inter"/>
                <a:ea typeface="Inter"/>
                <a:cs typeface="Inter"/>
                <a:sym typeface="Inter"/>
              </a:rPr>
              <a:t>Decomposed dates into </a:t>
            </a:r>
            <a:r>
              <a:rPr lang="en-US" sz="1600" b="1" i="0" u="none" strike="noStrike" cap="none">
                <a:solidFill>
                  <a:srgbClr val="CBD5E1"/>
                </a:solidFill>
                <a:latin typeface="Inter"/>
                <a:ea typeface="Inter"/>
                <a:cs typeface="Inter"/>
                <a:sym typeface="Inter"/>
              </a:rPr>
              <a:t>Month, Weekday, and Year</a:t>
            </a:r>
            <a:r>
              <a:rPr lang="en-US" sz="1600" b="0" i="0" u="none" strike="noStrike" cap="none">
                <a:solidFill>
                  <a:srgbClr val="CBD5E1"/>
                </a:solidFill>
                <a:latin typeface="Inter"/>
                <a:ea typeface="Inter"/>
                <a:cs typeface="Inter"/>
                <a:sym typeface="Inter"/>
              </a:rPr>
              <a:t> to capture seasonality (e.g., Holiday spikes) and weekly shopping cycles (Weekend vs. Weekday).</a:t>
            </a:r>
            <a:endParaRPr sz="1600"/>
          </a:p>
        </p:txBody>
      </p:sp>
      <p:sp>
        <p:nvSpPr>
          <p:cNvPr id="157" name="Google Shape;157;p17"/>
          <p:cNvSpPr txBox="1"/>
          <p:nvPr/>
        </p:nvSpPr>
        <p:spPr>
          <a:xfrm>
            <a:off x="4575810" y="3071812"/>
            <a:ext cx="3040380" cy="3238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60A5FA"/>
                </a:solidFill>
                <a:latin typeface="Inter"/>
                <a:ea typeface="Inter"/>
                <a:cs typeface="Inter"/>
                <a:sym typeface="Inter"/>
              </a:rPr>
              <a:t>Behavioral Features</a:t>
            </a:r>
            <a:endParaRPr/>
          </a:p>
        </p:txBody>
      </p:sp>
      <p:sp>
        <p:nvSpPr>
          <p:cNvPr id="158" name="Google Shape;158;p17"/>
          <p:cNvSpPr txBox="1"/>
          <p:nvPr/>
        </p:nvSpPr>
        <p:spPr>
          <a:xfrm>
            <a:off x="4648200" y="3586162"/>
            <a:ext cx="2895600" cy="196977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600" b="0" i="0" u="none" strike="noStrike" cap="none">
                <a:solidFill>
                  <a:srgbClr val="CBD5E1"/>
                </a:solidFill>
                <a:latin typeface="Inter"/>
                <a:ea typeface="Inter"/>
                <a:cs typeface="Inter"/>
                <a:sym typeface="Inter"/>
              </a:rPr>
              <a:t>Created customer_avg_price as a proxy for spending propensity. This helps model the distinction between high-value and budget shoppers.</a:t>
            </a:r>
            <a:endParaRPr sz="1600"/>
          </a:p>
        </p:txBody>
      </p:sp>
      <p:sp>
        <p:nvSpPr>
          <p:cNvPr id="159" name="Google Shape;159;p17"/>
          <p:cNvSpPr txBox="1"/>
          <p:nvPr/>
        </p:nvSpPr>
        <p:spPr>
          <a:xfrm>
            <a:off x="8347710" y="3071812"/>
            <a:ext cx="3040380" cy="3238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60A5FA"/>
                </a:solidFill>
                <a:latin typeface="Inter"/>
                <a:ea typeface="Inter"/>
                <a:cs typeface="Inter"/>
                <a:sym typeface="Inter"/>
              </a:rPr>
              <a:t>Encoding</a:t>
            </a:r>
            <a:endParaRPr/>
          </a:p>
        </p:txBody>
      </p:sp>
      <p:sp>
        <p:nvSpPr>
          <p:cNvPr id="160" name="Google Shape;160;p17"/>
          <p:cNvSpPr txBox="1"/>
          <p:nvPr/>
        </p:nvSpPr>
        <p:spPr>
          <a:xfrm>
            <a:off x="8420100" y="3586162"/>
            <a:ext cx="2895600" cy="2363724"/>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600" b="0" i="0" u="none" strike="noStrike" cap="none">
                <a:solidFill>
                  <a:srgbClr val="CBD5E1"/>
                </a:solidFill>
                <a:latin typeface="Inter"/>
                <a:ea typeface="Inter"/>
                <a:cs typeface="Inter"/>
                <a:sym typeface="Inter"/>
              </a:rPr>
              <a:t>Applied </a:t>
            </a:r>
            <a:r>
              <a:rPr lang="en-US" sz="1600" b="1" i="0" u="none" strike="noStrike" cap="none">
                <a:solidFill>
                  <a:srgbClr val="CBD5E1"/>
                </a:solidFill>
                <a:latin typeface="Inter"/>
                <a:ea typeface="Inter"/>
                <a:cs typeface="Inter"/>
                <a:sym typeface="Inter"/>
              </a:rPr>
              <a:t>One-Hot Encoding</a:t>
            </a:r>
            <a:r>
              <a:rPr lang="en-US" sz="1600" b="0" i="0" u="none" strike="noStrike" cap="none">
                <a:solidFill>
                  <a:srgbClr val="CBD5E1"/>
                </a:solidFill>
                <a:latin typeface="Inter"/>
                <a:ea typeface="Inter"/>
                <a:cs typeface="Inter"/>
                <a:sym typeface="Inter"/>
              </a:rPr>
              <a:t> to categorical variables: Gender, Payment Method, Category, and Mall, expanding feature space to 48 dimensions.</a:t>
            </a:r>
            <a:endParaRPr sz="1600"/>
          </a:p>
        </p:txBody>
      </p:sp>
      <p:pic>
        <p:nvPicPr>
          <p:cNvPr id="161" name="Google Shape;161;p17" descr="image.png"/>
          <p:cNvPicPr preferRelativeResize="0"/>
          <p:nvPr/>
        </p:nvPicPr>
        <p:blipFill rotWithShape="1">
          <a:blip r:embed="rId7">
            <a:alphaModFix/>
          </a:blip>
          <a:srcRect/>
          <a:stretch/>
        </p:blipFill>
        <p:spPr>
          <a:xfrm>
            <a:off x="2095500" y="2366962"/>
            <a:ext cx="457200" cy="457200"/>
          </a:xfrm>
          <a:prstGeom prst="rect">
            <a:avLst/>
          </a:prstGeom>
          <a:noFill/>
          <a:ln>
            <a:noFill/>
          </a:ln>
        </p:spPr>
      </p:pic>
      <p:pic>
        <p:nvPicPr>
          <p:cNvPr id="162" name="Google Shape;162;p17" descr="image.png"/>
          <p:cNvPicPr preferRelativeResize="0"/>
          <p:nvPr/>
        </p:nvPicPr>
        <p:blipFill rotWithShape="1">
          <a:blip r:embed="rId8">
            <a:alphaModFix/>
          </a:blip>
          <a:srcRect/>
          <a:stretch/>
        </p:blipFill>
        <p:spPr>
          <a:xfrm>
            <a:off x="5810250" y="2366962"/>
            <a:ext cx="571500" cy="457200"/>
          </a:xfrm>
          <a:prstGeom prst="rect">
            <a:avLst/>
          </a:prstGeom>
          <a:noFill/>
          <a:ln>
            <a:noFill/>
          </a:ln>
        </p:spPr>
      </p:pic>
      <p:pic>
        <p:nvPicPr>
          <p:cNvPr id="163" name="Google Shape;163;p17" descr="image.png"/>
          <p:cNvPicPr preferRelativeResize="0"/>
          <p:nvPr/>
        </p:nvPicPr>
        <p:blipFill rotWithShape="1">
          <a:blip r:embed="rId9">
            <a:alphaModFix/>
          </a:blip>
          <a:srcRect/>
          <a:stretch/>
        </p:blipFill>
        <p:spPr>
          <a:xfrm>
            <a:off x="9582150" y="2366962"/>
            <a:ext cx="571500" cy="457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Shape 167"/>
        <p:cNvGrpSpPr/>
        <p:nvPr/>
      </p:nvGrpSpPr>
      <p:grpSpPr>
        <a:xfrm>
          <a:off x="0" y="0"/>
          <a:ext cx="0" cy="0"/>
          <a:chOff x="0" y="0"/>
          <a:chExt cx="0" cy="0"/>
        </a:xfrm>
      </p:grpSpPr>
      <p:pic>
        <p:nvPicPr>
          <p:cNvPr id="168" name="Google Shape;168;p18"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69" name="Google Shape;169;p18"/>
          <p:cNvSpPr txBox="1"/>
          <p:nvPr/>
        </p:nvSpPr>
        <p:spPr>
          <a:xfrm>
            <a:off x="771525" y="823912"/>
            <a:ext cx="4790598" cy="485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F1F5F9"/>
                </a:solidFill>
                <a:latin typeface="Inter"/>
                <a:ea typeface="Inter"/>
                <a:cs typeface="Inter"/>
                <a:sym typeface="Inter"/>
              </a:rPr>
              <a:t>Sales Distribution</a:t>
            </a:r>
            <a:endParaRPr/>
          </a:p>
        </p:txBody>
      </p:sp>
      <p:sp>
        <p:nvSpPr>
          <p:cNvPr id="170" name="Google Shape;170;p18"/>
          <p:cNvSpPr txBox="1"/>
          <p:nvPr/>
        </p:nvSpPr>
        <p:spPr>
          <a:xfrm>
            <a:off x="771525" y="2071687"/>
            <a:ext cx="4562475" cy="787908"/>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00" b="0" i="0" u="none" strike="noStrike" cap="none">
                <a:solidFill>
                  <a:srgbClr val="CBD5E1"/>
                </a:solidFill>
                <a:latin typeface="Inter"/>
                <a:ea typeface="Inter"/>
                <a:cs typeface="Inter"/>
                <a:sym typeface="Inter"/>
              </a:rPr>
              <a:t>The target variable total_sales exhibits a classic long-tail distribution.</a:t>
            </a:r>
            <a:endParaRPr sz="1600"/>
          </a:p>
        </p:txBody>
      </p:sp>
      <p:sp>
        <p:nvSpPr>
          <p:cNvPr id="172" name="Google Shape;172;p18"/>
          <p:cNvSpPr txBox="1"/>
          <p:nvPr/>
        </p:nvSpPr>
        <p:spPr>
          <a:xfrm>
            <a:off x="1533525" y="3033712"/>
            <a:ext cx="3800475" cy="787908"/>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00" b="1" i="0" u="none" strike="noStrike" cap="none">
                <a:solidFill>
                  <a:srgbClr val="CBD5E1"/>
                </a:solidFill>
                <a:latin typeface="Inter"/>
                <a:ea typeface="Inter"/>
                <a:cs typeface="Inter"/>
                <a:sym typeface="Inter"/>
              </a:rPr>
              <a:t>Right-Skewed:</a:t>
            </a:r>
            <a:r>
              <a:rPr lang="en-US" sz="1600" b="0" i="0" u="none" strike="noStrike" cap="none">
                <a:solidFill>
                  <a:srgbClr val="CBD5E1"/>
                </a:solidFill>
                <a:latin typeface="Inter"/>
                <a:ea typeface="Inter"/>
                <a:cs typeface="Inter"/>
                <a:sym typeface="Inter"/>
              </a:rPr>
              <a:t> Majority of transactions are &lt; 5,000 TL.</a:t>
            </a:r>
            <a:endParaRPr sz="1600"/>
          </a:p>
        </p:txBody>
      </p:sp>
      <p:sp>
        <p:nvSpPr>
          <p:cNvPr id="173" name="Google Shape;173;p18"/>
          <p:cNvSpPr txBox="1"/>
          <p:nvPr/>
        </p:nvSpPr>
        <p:spPr>
          <a:xfrm>
            <a:off x="1533525" y="3881437"/>
            <a:ext cx="3800475" cy="118186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00" b="1" i="0" u="none" strike="noStrike" cap="none">
                <a:solidFill>
                  <a:srgbClr val="CBD5E1"/>
                </a:solidFill>
                <a:latin typeface="Inter"/>
                <a:ea typeface="Inter"/>
                <a:cs typeface="Inter"/>
                <a:sym typeface="Inter"/>
              </a:rPr>
              <a:t>Outliers:</a:t>
            </a:r>
            <a:r>
              <a:rPr lang="en-US" sz="1600" b="0" i="0" u="none" strike="noStrike" cap="none">
                <a:solidFill>
                  <a:srgbClr val="CBD5E1"/>
                </a:solidFill>
                <a:latin typeface="Inter"/>
                <a:ea typeface="Inter"/>
                <a:cs typeface="Inter"/>
                <a:sym typeface="Inter"/>
              </a:rPr>
              <a:t> Rare high-value transactions (&gt; 10,000 TL) contribute significantly to revenue.</a:t>
            </a:r>
            <a:endParaRPr sz="1600"/>
          </a:p>
        </p:txBody>
      </p:sp>
      <p:sp>
        <p:nvSpPr>
          <p:cNvPr id="174" name="Google Shape;174;p18"/>
          <p:cNvSpPr txBox="1"/>
          <p:nvPr/>
        </p:nvSpPr>
        <p:spPr>
          <a:xfrm>
            <a:off x="1533525" y="5033962"/>
            <a:ext cx="3800475" cy="787908"/>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00" b="1" i="0" u="none" strike="noStrike" cap="none">
                <a:solidFill>
                  <a:srgbClr val="CBD5E1"/>
                </a:solidFill>
                <a:latin typeface="Inter"/>
                <a:ea typeface="Inter"/>
                <a:cs typeface="Inter"/>
                <a:sym typeface="Inter"/>
              </a:rPr>
              <a:t>Implication:</a:t>
            </a:r>
            <a:r>
              <a:rPr lang="en-US" sz="1600" b="0" i="0" u="none" strike="noStrike" cap="none">
                <a:solidFill>
                  <a:srgbClr val="CBD5E1"/>
                </a:solidFill>
                <a:latin typeface="Inter"/>
                <a:ea typeface="Inter"/>
                <a:cs typeface="Inter"/>
                <a:sym typeface="Inter"/>
              </a:rPr>
              <a:t> Models must be robust to outliers to minimize RMSE.</a:t>
            </a:r>
            <a:endParaRPr sz="1600"/>
          </a:p>
        </p:txBody>
      </p:sp>
      <p:pic>
        <p:nvPicPr>
          <p:cNvPr id="175" name="Google Shape;175;p18" descr="image.png"/>
          <p:cNvPicPr preferRelativeResize="0"/>
          <p:nvPr/>
        </p:nvPicPr>
        <p:blipFill rotWithShape="1">
          <a:blip r:embed="rId4">
            <a:alphaModFix/>
          </a:blip>
          <a:srcRect/>
          <a:stretch/>
        </p:blipFill>
        <p:spPr>
          <a:xfrm>
            <a:off x="1152525" y="3033712"/>
            <a:ext cx="200025" cy="247650"/>
          </a:xfrm>
          <a:prstGeom prst="rect">
            <a:avLst/>
          </a:prstGeom>
          <a:noFill/>
          <a:ln>
            <a:noFill/>
          </a:ln>
        </p:spPr>
      </p:pic>
      <p:pic>
        <p:nvPicPr>
          <p:cNvPr id="176" name="Google Shape;176;p18" descr="image.png"/>
          <p:cNvPicPr preferRelativeResize="0"/>
          <p:nvPr/>
        </p:nvPicPr>
        <p:blipFill rotWithShape="1">
          <a:blip r:embed="rId4">
            <a:alphaModFix/>
          </a:blip>
          <a:srcRect/>
          <a:stretch/>
        </p:blipFill>
        <p:spPr>
          <a:xfrm>
            <a:off x="1152525" y="3881437"/>
            <a:ext cx="200025" cy="247650"/>
          </a:xfrm>
          <a:prstGeom prst="rect">
            <a:avLst/>
          </a:prstGeom>
          <a:noFill/>
          <a:ln>
            <a:noFill/>
          </a:ln>
        </p:spPr>
      </p:pic>
      <p:pic>
        <p:nvPicPr>
          <p:cNvPr id="177" name="Google Shape;177;p18" descr="image.png"/>
          <p:cNvPicPr preferRelativeResize="0"/>
          <p:nvPr/>
        </p:nvPicPr>
        <p:blipFill rotWithShape="1">
          <a:blip r:embed="rId4">
            <a:alphaModFix/>
          </a:blip>
          <a:srcRect/>
          <a:stretch/>
        </p:blipFill>
        <p:spPr>
          <a:xfrm>
            <a:off x="1152525" y="5033962"/>
            <a:ext cx="200025" cy="247650"/>
          </a:xfrm>
          <a:prstGeom prst="rect">
            <a:avLst/>
          </a:prstGeom>
          <a:noFill/>
          <a:ln>
            <a:noFill/>
          </a:ln>
        </p:spPr>
      </p:pic>
      <p:pic>
        <p:nvPicPr>
          <p:cNvPr id="3" name="Picture 2">
            <a:extLst>
              <a:ext uri="{FF2B5EF4-FFF2-40B4-BE49-F238E27FC236}">
                <a16:creationId xmlns:a16="http://schemas.microsoft.com/office/drawing/2014/main" id="{5FCA17CA-4C6E-DCC1-1E03-88CCA371077D}"/>
              </a:ext>
            </a:extLst>
          </p:cNvPr>
          <p:cNvPicPr>
            <a:picLocks noChangeAspect="1"/>
          </p:cNvPicPr>
          <p:nvPr/>
        </p:nvPicPr>
        <p:blipFill>
          <a:blip r:embed="rId5"/>
          <a:stretch>
            <a:fillRect/>
          </a:stretch>
        </p:blipFill>
        <p:spPr>
          <a:xfrm>
            <a:off x="5806473" y="1702019"/>
            <a:ext cx="5476875" cy="40005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Shape 181"/>
        <p:cNvGrpSpPr/>
        <p:nvPr/>
      </p:nvGrpSpPr>
      <p:grpSpPr>
        <a:xfrm>
          <a:off x="0" y="0"/>
          <a:ext cx="0" cy="0"/>
          <a:chOff x="0" y="0"/>
          <a:chExt cx="0" cy="0"/>
        </a:xfrm>
      </p:grpSpPr>
      <p:pic>
        <p:nvPicPr>
          <p:cNvPr id="182" name="Google Shape;182;p19"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84" name="Google Shape;184;p19"/>
          <p:cNvSpPr txBox="1"/>
          <p:nvPr/>
        </p:nvSpPr>
        <p:spPr>
          <a:xfrm>
            <a:off x="581025" y="581025"/>
            <a:ext cx="11581447" cy="495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F1F5F9"/>
                </a:solidFill>
                <a:latin typeface="Inter"/>
                <a:ea typeface="Inter"/>
                <a:cs typeface="Inter"/>
                <a:sym typeface="Inter"/>
              </a:rPr>
              <a:t>Seasonality &amp; Category Analysis</a:t>
            </a:r>
            <a:endParaRPr/>
          </a:p>
        </p:txBody>
      </p:sp>
      <p:sp>
        <p:nvSpPr>
          <p:cNvPr id="185" name="Google Shape;185;p19"/>
          <p:cNvSpPr/>
          <p:nvPr/>
        </p:nvSpPr>
        <p:spPr>
          <a:xfrm>
            <a:off x="581025" y="1257300"/>
            <a:ext cx="11029950"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6" name="Google Shape;186;p19"/>
          <p:cNvSpPr txBox="1"/>
          <p:nvPr/>
        </p:nvSpPr>
        <p:spPr>
          <a:xfrm>
            <a:off x="581025" y="2147887"/>
            <a:ext cx="5490686"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60A5FA"/>
                </a:solidFill>
                <a:latin typeface="Inter"/>
                <a:ea typeface="Inter"/>
                <a:cs typeface="Inter"/>
                <a:sym typeface="Inter"/>
              </a:rPr>
              <a:t>Key Insights</a:t>
            </a:r>
            <a:endParaRPr/>
          </a:p>
        </p:txBody>
      </p:sp>
      <p:sp>
        <p:nvSpPr>
          <p:cNvPr id="188" name="Google Shape;188;p19"/>
          <p:cNvSpPr txBox="1"/>
          <p:nvPr/>
        </p:nvSpPr>
        <p:spPr>
          <a:xfrm>
            <a:off x="1343025" y="2624137"/>
            <a:ext cx="4467225"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CBD5E1"/>
                </a:solidFill>
                <a:latin typeface="Inter"/>
                <a:ea typeface="Inter"/>
                <a:cs typeface="Inter"/>
                <a:sym typeface="Inter"/>
              </a:rPr>
              <a:t>Seasonal Peaks:</a:t>
            </a:r>
            <a:r>
              <a:rPr lang="en-US" sz="1500" b="0" i="0" u="none" strike="noStrike" cap="none">
                <a:solidFill>
                  <a:srgbClr val="CBD5E1"/>
                </a:solidFill>
                <a:latin typeface="Inter"/>
                <a:ea typeface="Inter"/>
                <a:cs typeface="Inter"/>
                <a:sym typeface="Inter"/>
              </a:rPr>
              <a:t> Significant sales surges observed in </a:t>
            </a:r>
            <a:r>
              <a:rPr lang="en-US" sz="1500" b="1" i="0" u="none" strike="noStrike" cap="none">
                <a:solidFill>
                  <a:srgbClr val="10B981"/>
                </a:solidFill>
                <a:latin typeface="Inter"/>
                <a:ea typeface="Inter"/>
                <a:cs typeface="Inter"/>
                <a:sym typeface="Inter"/>
              </a:rPr>
              <a:t>November and December</a:t>
            </a:r>
            <a:r>
              <a:rPr lang="en-US" sz="1500" b="0" i="0" u="none" strike="noStrike" cap="none">
                <a:solidFill>
                  <a:srgbClr val="CBD5E1"/>
                </a:solidFill>
                <a:latin typeface="Inter"/>
                <a:ea typeface="Inter"/>
                <a:cs typeface="Inter"/>
                <a:sym typeface="Inter"/>
              </a:rPr>
              <a:t>, driven by holiday shopping.</a:t>
            </a:r>
            <a:endParaRPr/>
          </a:p>
        </p:txBody>
      </p:sp>
      <p:sp>
        <p:nvSpPr>
          <p:cNvPr id="189" name="Google Shape;189;p19"/>
          <p:cNvSpPr txBox="1"/>
          <p:nvPr/>
        </p:nvSpPr>
        <p:spPr>
          <a:xfrm>
            <a:off x="1343025" y="3776662"/>
            <a:ext cx="4467225"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CBD5E1"/>
                </a:solidFill>
                <a:latin typeface="Inter"/>
                <a:ea typeface="Inter"/>
                <a:cs typeface="Inter"/>
                <a:sym typeface="Inter"/>
              </a:rPr>
              <a:t>Category Dominance:</a:t>
            </a:r>
            <a:r>
              <a:rPr lang="en-US" sz="1500" b="0" i="0" u="none" strike="noStrike" cap="none">
                <a:solidFill>
                  <a:srgbClr val="CBD5E1"/>
                </a:solidFill>
                <a:latin typeface="Inter"/>
                <a:ea typeface="Inter"/>
                <a:cs typeface="Inter"/>
                <a:sym typeface="Inter"/>
              </a:rPr>
              <a:t> </a:t>
            </a:r>
            <a:r>
              <a:rPr lang="en-US" sz="1500" b="1" i="0" u="none" strike="noStrike" cap="none">
                <a:solidFill>
                  <a:srgbClr val="CBD5E1"/>
                </a:solidFill>
                <a:latin typeface="Inter"/>
                <a:ea typeface="Inter"/>
                <a:cs typeface="Inter"/>
                <a:sym typeface="Inter"/>
              </a:rPr>
              <a:t>Clothing and Shoes</a:t>
            </a:r>
            <a:r>
              <a:rPr lang="en-US" sz="1500" b="0" i="0" u="none" strike="noStrike" cap="none">
                <a:solidFill>
                  <a:srgbClr val="CBD5E1"/>
                </a:solidFill>
                <a:latin typeface="Inter"/>
                <a:ea typeface="Inter"/>
                <a:cs typeface="Inter"/>
                <a:sym typeface="Inter"/>
              </a:rPr>
              <a:t> account for ~65% of total sales volume.</a:t>
            </a:r>
            <a:endParaRPr/>
          </a:p>
        </p:txBody>
      </p:sp>
      <p:sp>
        <p:nvSpPr>
          <p:cNvPr id="190" name="Google Shape;190;p19"/>
          <p:cNvSpPr txBox="1"/>
          <p:nvPr/>
        </p:nvSpPr>
        <p:spPr>
          <a:xfrm>
            <a:off x="1343025" y="4624387"/>
            <a:ext cx="4467225"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CBD5E1"/>
                </a:solidFill>
                <a:latin typeface="Inter"/>
                <a:ea typeface="Inter"/>
                <a:cs typeface="Inter"/>
                <a:sym typeface="Inter"/>
              </a:rPr>
              <a:t>Payment Preference:</a:t>
            </a:r>
            <a:r>
              <a:rPr lang="en-US" sz="1500" b="0" i="0" u="none" strike="noStrike" cap="none">
                <a:solidFill>
                  <a:srgbClr val="CBD5E1"/>
                </a:solidFill>
                <a:latin typeface="Inter"/>
                <a:ea typeface="Inter"/>
                <a:cs typeface="Inter"/>
                <a:sym typeface="Inter"/>
              </a:rPr>
              <a:t> Credit cards are used in 52% of transactions, correlating with higher basket values.</a:t>
            </a:r>
            <a:endParaRPr/>
          </a:p>
        </p:txBody>
      </p:sp>
      <p:pic>
        <p:nvPicPr>
          <p:cNvPr id="191" name="Google Shape;191;p19" descr="image.png"/>
          <p:cNvPicPr preferRelativeResize="0"/>
          <p:nvPr/>
        </p:nvPicPr>
        <p:blipFill rotWithShape="1">
          <a:blip r:embed="rId4">
            <a:alphaModFix/>
          </a:blip>
          <a:srcRect/>
          <a:stretch/>
        </p:blipFill>
        <p:spPr>
          <a:xfrm>
            <a:off x="962025" y="2624137"/>
            <a:ext cx="200025" cy="247650"/>
          </a:xfrm>
          <a:prstGeom prst="rect">
            <a:avLst/>
          </a:prstGeom>
          <a:noFill/>
          <a:ln>
            <a:noFill/>
          </a:ln>
        </p:spPr>
      </p:pic>
      <p:pic>
        <p:nvPicPr>
          <p:cNvPr id="192" name="Google Shape;192;p19" descr="image.png"/>
          <p:cNvPicPr preferRelativeResize="0"/>
          <p:nvPr/>
        </p:nvPicPr>
        <p:blipFill rotWithShape="1">
          <a:blip r:embed="rId4">
            <a:alphaModFix/>
          </a:blip>
          <a:srcRect/>
          <a:stretch/>
        </p:blipFill>
        <p:spPr>
          <a:xfrm>
            <a:off x="962025" y="3776662"/>
            <a:ext cx="200025" cy="247650"/>
          </a:xfrm>
          <a:prstGeom prst="rect">
            <a:avLst/>
          </a:prstGeom>
          <a:noFill/>
          <a:ln>
            <a:noFill/>
          </a:ln>
        </p:spPr>
      </p:pic>
      <p:pic>
        <p:nvPicPr>
          <p:cNvPr id="193" name="Google Shape;193;p19" descr="image.png"/>
          <p:cNvPicPr preferRelativeResize="0"/>
          <p:nvPr/>
        </p:nvPicPr>
        <p:blipFill rotWithShape="1">
          <a:blip r:embed="rId4">
            <a:alphaModFix/>
          </a:blip>
          <a:srcRect/>
          <a:stretch/>
        </p:blipFill>
        <p:spPr>
          <a:xfrm>
            <a:off x="962025" y="4624387"/>
            <a:ext cx="200025" cy="247650"/>
          </a:xfrm>
          <a:prstGeom prst="rect">
            <a:avLst/>
          </a:prstGeom>
          <a:noFill/>
          <a:ln>
            <a:noFill/>
          </a:ln>
        </p:spPr>
      </p:pic>
      <p:pic>
        <p:nvPicPr>
          <p:cNvPr id="3" name="Picture 2">
            <a:extLst>
              <a:ext uri="{FF2B5EF4-FFF2-40B4-BE49-F238E27FC236}">
                <a16:creationId xmlns:a16="http://schemas.microsoft.com/office/drawing/2014/main" id="{5B7A3083-7858-A579-2EFB-20843DA4CA73}"/>
              </a:ext>
            </a:extLst>
          </p:cNvPr>
          <p:cNvPicPr>
            <a:picLocks noChangeAspect="1"/>
          </p:cNvPicPr>
          <p:nvPr/>
        </p:nvPicPr>
        <p:blipFill>
          <a:blip r:embed="rId5"/>
          <a:stretch>
            <a:fillRect/>
          </a:stretch>
        </p:blipFill>
        <p:spPr>
          <a:xfrm>
            <a:off x="7460747" y="125508"/>
            <a:ext cx="4150227" cy="3253403"/>
          </a:xfrm>
          <a:prstGeom prst="rect">
            <a:avLst/>
          </a:prstGeom>
        </p:spPr>
      </p:pic>
      <p:pic>
        <p:nvPicPr>
          <p:cNvPr id="5" name="Picture 4">
            <a:extLst>
              <a:ext uri="{FF2B5EF4-FFF2-40B4-BE49-F238E27FC236}">
                <a16:creationId xmlns:a16="http://schemas.microsoft.com/office/drawing/2014/main" id="{D0D588F0-393E-242D-051D-CC18A66D3C09}"/>
              </a:ext>
            </a:extLst>
          </p:cNvPr>
          <p:cNvPicPr>
            <a:picLocks noChangeAspect="1"/>
          </p:cNvPicPr>
          <p:nvPr/>
        </p:nvPicPr>
        <p:blipFill>
          <a:blip r:embed="rId6"/>
          <a:stretch>
            <a:fillRect/>
          </a:stretch>
        </p:blipFill>
        <p:spPr>
          <a:xfrm>
            <a:off x="7460746" y="3638416"/>
            <a:ext cx="4150227" cy="309407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Shape 197"/>
        <p:cNvGrpSpPr/>
        <p:nvPr/>
      </p:nvGrpSpPr>
      <p:grpSpPr>
        <a:xfrm>
          <a:off x="0" y="0"/>
          <a:ext cx="0" cy="0"/>
          <a:chOff x="0" y="0"/>
          <a:chExt cx="0" cy="0"/>
        </a:xfrm>
      </p:grpSpPr>
      <p:pic>
        <p:nvPicPr>
          <p:cNvPr id="198" name="Google Shape;198;p20"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99" name="Google Shape;199;p20" descr="image.png"/>
          <p:cNvPicPr preferRelativeResize="0"/>
          <p:nvPr/>
        </p:nvPicPr>
        <p:blipFill rotWithShape="1">
          <a:blip r:embed="rId4">
            <a:alphaModFix/>
          </a:blip>
          <a:srcRect/>
          <a:stretch/>
        </p:blipFill>
        <p:spPr>
          <a:xfrm>
            <a:off x="581025" y="2090737"/>
            <a:ext cx="2543175" cy="2962275"/>
          </a:xfrm>
          <a:prstGeom prst="rect">
            <a:avLst/>
          </a:prstGeom>
          <a:noFill/>
          <a:ln>
            <a:noFill/>
          </a:ln>
        </p:spPr>
      </p:pic>
      <p:pic>
        <p:nvPicPr>
          <p:cNvPr id="200" name="Google Shape;200;p20" descr="image.png"/>
          <p:cNvPicPr preferRelativeResize="0"/>
          <p:nvPr/>
        </p:nvPicPr>
        <p:blipFill rotWithShape="1">
          <a:blip r:embed="rId5">
            <a:alphaModFix/>
          </a:blip>
          <a:srcRect/>
          <a:stretch/>
        </p:blipFill>
        <p:spPr>
          <a:xfrm>
            <a:off x="3409950" y="2090737"/>
            <a:ext cx="2543175" cy="2962275"/>
          </a:xfrm>
          <a:prstGeom prst="rect">
            <a:avLst/>
          </a:prstGeom>
          <a:noFill/>
          <a:ln>
            <a:noFill/>
          </a:ln>
        </p:spPr>
      </p:pic>
      <p:pic>
        <p:nvPicPr>
          <p:cNvPr id="201" name="Google Shape;201;p20" descr="image.png"/>
          <p:cNvPicPr preferRelativeResize="0"/>
          <p:nvPr/>
        </p:nvPicPr>
        <p:blipFill rotWithShape="1">
          <a:blip r:embed="rId6">
            <a:alphaModFix/>
          </a:blip>
          <a:srcRect/>
          <a:stretch/>
        </p:blipFill>
        <p:spPr>
          <a:xfrm>
            <a:off x="6238875" y="2090737"/>
            <a:ext cx="2543175" cy="2962275"/>
          </a:xfrm>
          <a:prstGeom prst="rect">
            <a:avLst/>
          </a:prstGeom>
          <a:noFill/>
          <a:ln>
            <a:noFill/>
          </a:ln>
        </p:spPr>
      </p:pic>
      <p:pic>
        <p:nvPicPr>
          <p:cNvPr id="202" name="Google Shape;202;p20" descr="image.png"/>
          <p:cNvPicPr preferRelativeResize="0"/>
          <p:nvPr/>
        </p:nvPicPr>
        <p:blipFill rotWithShape="1">
          <a:blip r:embed="rId7">
            <a:alphaModFix/>
          </a:blip>
          <a:srcRect/>
          <a:stretch/>
        </p:blipFill>
        <p:spPr>
          <a:xfrm>
            <a:off x="9067800" y="2090737"/>
            <a:ext cx="2543175" cy="2962275"/>
          </a:xfrm>
          <a:prstGeom prst="rect">
            <a:avLst/>
          </a:prstGeom>
          <a:noFill/>
          <a:ln>
            <a:noFill/>
          </a:ln>
        </p:spPr>
      </p:pic>
      <p:sp>
        <p:nvSpPr>
          <p:cNvPr id="203" name="Google Shape;203;p20"/>
          <p:cNvSpPr txBox="1"/>
          <p:nvPr/>
        </p:nvSpPr>
        <p:spPr>
          <a:xfrm>
            <a:off x="581025" y="581025"/>
            <a:ext cx="11581447" cy="495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F1F5F9"/>
                </a:solidFill>
                <a:latin typeface="Inter"/>
                <a:ea typeface="Inter"/>
                <a:cs typeface="Inter"/>
                <a:sym typeface="Inter"/>
              </a:rPr>
              <a:t>System Architecture</a:t>
            </a:r>
            <a:endParaRPr/>
          </a:p>
        </p:txBody>
      </p:sp>
      <p:sp>
        <p:nvSpPr>
          <p:cNvPr id="204" name="Google Shape;204;p20"/>
          <p:cNvSpPr/>
          <p:nvPr/>
        </p:nvSpPr>
        <p:spPr>
          <a:xfrm>
            <a:off x="581025" y="1257300"/>
            <a:ext cx="11029950"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05" name="Google Shape;205;p20"/>
          <p:cNvSpPr txBox="1"/>
          <p:nvPr/>
        </p:nvSpPr>
        <p:spPr>
          <a:xfrm>
            <a:off x="581025" y="5338762"/>
            <a:ext cx="11029950" cy="443198"/>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800" b="0" i="0" u="none" strike="noStrike" cap="none" dirty="0">
                <a:solidFill>
                  <a:srgbClr val="94A3B8"/>
                </a:solidFill>
                <a:latin typeface="JetBrains Mono"/>
                <a:ea typeface="JetBrains Mono"/>
                <a:cs typeface="JetBrains Mono"/>
                <a:sym typeface="JetBrains Mono"/>
              </a:rPr>
              <a:t>Pipeline implemented using Scikit-Learn `Pipeline` &amp; `</a:t>
            </a:r>
            <a:r>
              <a:rPr lang="en-US" sz="1800" b="0" i="0" u="none" strike="noStrike" cap="none" dirty="0" err="1">
                <a:solidFill>
                  <a:srgbClr val="94A3B8"/>
                </a:solidFill>
                <a:latin typeface="JetBrains Mono"/>
                <a:ea typeface="JetBrains Mono"/>
                <a:cs typeface="JetBrains Mono"/>
                <a:sym typeface="JetBrains Mono"/>
              </a:rPr>
              <a:t>ColumnTransformer</a:t>
            </a:r>
            <a:r>
              <a:rPr lang="en-US" sz="1800" b="0" i="0" u="none" strike="noStrike" cap="none" dirty="0">
                <a:solidFill>
                  <a:srgbClr val="94A3B8"/>
                </a:solidFill>
                <a:latin typeface="JetBrains Mono"/>
                <a:ea typeface="JetBrains Mono"/>
                <a:cs typeface="JetBrains Mono"/>
                <a:sym typeface="JetBrains Mono"/>
              </a:rPr>
              <a:t>`</a:t>
            </a:r>
            <a:endParaRPr sz="1800" dirty="0"/>
          </a:p>
        </p:txBody>
      </p:sp>
      <p:sp>
        <p:nvSpPr>
          <p:cNvPr id="206" name="Google Shape;206;p20"/>
          <p:cNvSpPr txBox="1"/>
          <p:nvPr/>
        </p:nvSpPr>
        <p:spPr>
          <a:xfrm>
            <a:off x="827484" y="3138487"/>
            <a:ext cx="2050256" cy="3238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60A5FA"/>
                </a:solidFill>
                <a:latin typeface="Inter"/>
                <a:ea typeface="Inter"/>
                <a:cs typeface="Inter"/>
                <a:sym typeface="Inter"/>
              </a:rPr>
              <a:t>1. Ingestion</a:t>
            </a:r>
            <a:endParaRPr/>
          </a:p>
        </p:txBody>
      </p:sp>
      <p:sp>
        <p:nvSpPr>
          <p:cNvPr id="207" name="Google Shape;207;p20"/>
          <p:cNvSpPr txBox="1"/>
          <p:nvPr/>
        </p:nvSpPr>
        <p:spPr>
          <a:xfrm>
            <a:off x="876300" y="3652837"/>
            <a:ext cx="1952625" cy="609600"/>
          </a:xfrm>
          <a:prstGeom prst="rect">
            <a:avLst/>
          </a:prstGeom>
          <a:noFill/>
          <a:ln>
            <a:noFill/>
          </a:ln>
        </p:spPr>
        <p:txBody>
          <a:bodyPr spcFirstLastPara="1" wrap="square" lIns="0" tIns="0" rIns="0" bIns="0" anchor="t" anchorCtr="0">
            <a:spAutoFit/>
          </a:bodyPr>
          <a:lstStyle/>
          <a:p>
            <a:pPr marL="0" marR="0" lvl="0" indent="0" algn="ctr" rtl="0">
              <a:lnSpc>
                <a:spcPct val="133333"/>
              </a:lnSpc>
              <a:spcBef>
                <a:spcPts val="0"/>
              </a:spcBef>
              <a:spcAft>
                <a:spcPts val="0"/>
              </a:spcAft>
              <a:buNone/>
            </a:pPr>
            <a:r>
              <a:rPr lang="en-US" sz="1500" b="0" i="0" u="none" strike="noStrike" cap="none">
                <a:solidFill>
                  <a:srgbClr val="CBD5E1"/>
                </a:solidFill>
                <a:latin typeface="Inter"/>
                <a:ea typeface="Inter"/>
                <a:cs typeface="Inter"/>
                <a:sym typeface="Inter"/>
              </a:rPr>
              <a:t>Raw CSV Data</a:t>
            </a:r>
            <a:br>
              <a:rPr lang="en-US" sz="1800" b="0" i="0" u="none" strike="noStrike" cap="none">
                <a:solidFill>
                  <a:schemeClr val="dk1"/>
                </a:solidFill>
                <a:latin typeface="Calibri"/>
                <a:ea typeface="Calibri"/>
                <a:cs typeface="Calibri"/>
                <a:sym typeface="Calibri"/>
              </a:rPr>
            </a:br>
            <a:r>
              <a:rPr lang="en-US" sz="1500" b="0" i="0" u="none" strike="noStrike" cap="none">
                <a:solidFill>
                  <a:srgbClr val="CBD5E1"/>
                </a:solidFill>
                <a:latin typeface="Inter"/>
                <a:ea typeface="Inter"/>
                <a:cs typeface="Inter"/>
                <a:sym typeface="Inter"/>
              </a:rPr>
              <a:t> Pandas DataFrame</a:t>
            </a:r>
            <a:endParaRPr/>
          </a:p>
        </p:txBody>
      </p:sp>
      <p:sp>
        <p:nvSpPr>
          <p:cNvPr id="208" name="Google Shape;208;p20"/>
          <p:cNvSpPr txBox="1"/>
          <p:nvPr/>
        </p:nvSpPr>
        <p:spPr>
          <a:xfrm>
            <a:off x="3656409" y="3138487"/>
            <a:ext cx="2050256" cy="3238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60A5FA"/>
                </a:solidFill>
                <a:latin typeface="Inter"/>
                <a:ea typeface="Inter"/>
                <a:cs typeface="Inter"/>
                <a:sym typeface="Inter"/>
              </a:rPr>
              <a:t>2. Processing</a:t>
            </a:r>
            <a:endParaRPr/>
          </a:p>
        </p:txBody>
      </p:sp>
      <p:sp>
        <p:nvSpPr>
          <p:cNvPr id="209" name="Google Shape;209;p20"/>
          <p:cNvSpPr txBox="1"/>
          <p:nvPr/>
        </p:nvSpPr>
        <p:spPr>
          <a:xfrm>
            <a:off x="3705225" y="3652837"/>
            <a:ext cx="1952625" cy="914400"/>
          </a:xfrm>
          <a:prstGeom prst="rect">
            <a:avLst/>
          </a:prstGeom>
          <a:noFill/>
          <a:ln>
            <a:noFill/>
          </a:ln>
        </p:spPr>
        <p:txBody>
          <a:bodyPr spcFirstLastPara="1" wrap="square" lIns="0" tIns="0" rIns="0" bIns="0" anchor="t" anchorCtr="0">
            <a:spAutoFit/>
          </a:bodyPr>
          <a:lstStyle/>
          <a:p>
            <a:pPr marL="0" marR="0" lvl="0" indent="0" algn="ctr" rtl="0">
              <a:lnSpc>
                <a:spcPct val="133333"/>
              </a:lnSpc>
              <a:spcBef>
                <a:spcPts val="0"/>
              </a:spcBef>
              <a:spcAft>
                <a:spcPts val="0"/>
              </a:spcAft>
              <a:buNone/>
            </a:pPr>
            <a:r>
              <a:rPr lang="en-US" sz="1500" b="0" i="0" u="none" strike="noStrike" cap="none">
                <a:solidFill>
                  <a:srgbClr val="CBD5E1"/>
                </a:solidFill>
                <a:latin typeface="Inter"/>
                <a:ea typeface="Inter"/>
                <a:cs typeface="Inter"/>
                <a:sym typeface="Inter"/>
              </a:rPr>
              <a:t>Imputation</a:t>
            </a:r>
            <a:br>
              <a:rPr lang="en-US" sz="1800" b="0" i="0" u="none" strike="noStrike" cap="none">
                <a:solidFill>
                  <a:schemeClr val="dk1"/>
                </a:solidFill>
                <a:latin typeface="Calibri"/>
                <a:ea typeface="Calibri"/>
                <a:cs typeface="Calibri"/>
                <a:sym typeface="Calibri"/>
              </a:rPr>
            </a:br>
            <a:r>
              <a:rPr lang="en-US" sz="1500" b="0" i="0" u="none" strike="noStrike" cap="none">
                <a:solidFill>
                  <a:srgbClr val="CBD5E1"/>
                </a:solidFill>
                <a:latin typeface="Inter"/>
                <a:ea typeface="Inter"/>
                <a:cs typeface="Inter"/>
                <a:sym typeface="Inter"/>
              </a:rPr>
              <a:t> One-Hot Encoding</a:t>
            </a:r>
            <a:br>
              <a:rPr lang="en-US" sz="1800" b="0" i="0" u="none" strike="noStrike" cap="none">
                <a:solidFill>
                  <a:schemeClr val="dk1"/>
                </a:solidFill>
                <a:latin typeface="Calibri"/>
                <a:ea typeface="Calibri"/>
                <a:cs typeface="Calibri"/>
                <a:sym typeface="Calibri"/>
              </a:rPr>
            </a:br>
            <a:r>
              <a:rPr lang="en-US" sz="1500" b="0" i="0" u="none" strike="noStrike" cap="none">
                <a:solidFill>
                  <a:srgbClr val="CBD5E1"/>
                </a:solidFill>
                <a:latin typeface="Inter"/>
                <a:ea typeface="Inter"/>
                <a:cs typeface="Inter"/>
                <a:sym typeface="Inter"/>
              </a:rPr>
              <a:t> StandardScaler</a:t>
            </a:r>
            <a:endParaRPr/>
          </a:p>
        </p:txBody>
      </p:sp>
      <p:sp>
        <p:nvSpPr>
          <p:cNvPr id="210" name="Google Shape;210;p20"/>
          <p:cNvSpPr txBox="1"/>
          <p:nvPr/>
        </p:nvSpPr>
        <p:spPr>
          <a:xfrm>
            <a:off x="6485334" y="3138487"/>
            <a:ext cx="2050256" cy="3238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60A5FA"/>
                </a:solidFill>
                <a:latin typeface="Inter"/>
                <a:ea typeface="Inter"/>
                <a:cs typeface="Inter"/>
                <a:sym typeface="Inter"/>
              </a:rPr>
              <a:t>3. Reduction</a:t>
            </a:r>
            <a:endParaRPr/>
          </a:p>
        </p:txBody>
      </p:sp>
      <p:sp>
        <p:nvSpPr>
          <p:cNvPr id="211" name="Google Shape;211;p20"/>
          <p:cNvSpPr txBox="1"/>
          <p:nvPr/>
        </p:nvSpPr>
        <p:spPr>
          <a:xfrm>
            <a:off x="6534150" y="3652837"/>
            <a:ext cx="1952625" cy="609600"/>
          </a:xfrm>
          <a:prstGeom prst="rect">
            <a:avLst/>
          </a:prstGeom>
          <a:noFill/>
          <a:ln>
            <a:noFill/>
          </a:ln>
        </p:spPr>
        <p:txBody>
          <a:bodyPr spcFirstLastPara="1" wrap="square" lIns="0" tIns="0" rIns="0" bIns="0" anchor="t" anchorCtr="0">
            <a:spAutoFit/>
          </a:bodyPr>
          <a:lstStyle/>
          <a:p>
            <a:pPr marL="0" marR="0" lvl="0" indent="0" algn="ctr" rtl="0">
              <a:lnSpc>
                <a:spcPct val="133333"/>
              </a:lnSpc>
              <a:spcBef>
                <a:spcPts val="0"/>
              </a:spcBef>
              <a:spcAft>
                <a:spcPts val="0"/>
              </a:spcAft>
              <a:buNone/>
            </a:pPr>
            <a:r>
              <a:rPr lang="en-US" sz="1500" b="0" i="0" u="none" strike="noStrike" cap="none">
                <a:solidFill>
                  <a:srgbClr val="CBD5E1"/>
                </a:solidFill>
                <a:latin typeface="Inter"/>
                <a:ea typeface="Inter"/>
                <a:cs typeface="Inter"/>
                <a:sym typeface="Inter"/>
              </a:rPr>
              <a:t>PCA (95% Variance)</a:t>
            </a:r>
            <a:br>
              <a:rPr lang="en-US" sz="1800" b="0" i="0" u="none" strike="noStrike" cap="none">
                <a:solidFill>
                  <a:schemeClr val="dk1"/>
                </a:solidFill>
                <a:latin typeface="Calibri"/>
                <a:ea typeface="Calibri"/>
                <a:cs typeface="Calibri"/>
                <a:sym typeface="Calibri"/>
              </a:rPr>
            </a:br>
            <a:r>
              <a:rPr lang="en-US" sz="1500" b="0" i="0" u="none" strike="noStrike" cap="none">
                <a:solidFill>
                  <a:srgbClr val="CBD5E1"/>
                </a:solidFill>
                <a:latin typeface="Inter"/>
                <a:ea typeface="Inter"/>
                <a:cs typeface="Inter"/>
                <a:sym typeface="Inter"/>
              </a:rPr>
              <a:t> Dims: 48 → 22</a:t>
            </a:r>
            <a:endParaRPr/>
          </a:p>
        </p:txBody>
      </p:sp>
      <p:sp>
        <p:nvSpPr>
          <p:cNvPr id="212" name="Google Shape;212;p20"/>
          <p:cNvSpPr txBox="1"/>
          <p:nvPr/>
        </p:nvSpPr>
        <p:spPr>
          <a:xfrm>
            <a:off x="9314259" y="3138487"/>
            <a:ext cx="2050256" cy="3238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60A5FA"/>
                </a:solidFill>
                <a:latin typeface="Inter"/>
                <a:ea typeface="Inter"/>
                <a:cs typeface="Inter"/>
                <a:sym typeface="Inter"/>
              </a:rPr>
              <a:t>4. Modeling</a:t>
            </a:r>
            <a:endParaRPr/>
          </a:p>
        </p:txBody>
      </p:sp>
      <p:sp>
        <p:nvSpPr>
          <p:cNvPr id="213" name="Google Shape;213;p20"/>
          <p:cNvSpPr txBox="1"/>
          <p:nvPr/>
        </p:nvSpPr>
        <p:spPr>
          <a:xfrm>
            <a:off x="9363075" y="3652837"/>
            <a:ext cx="1952625" cy="609600"/>
          </a:xfrm>
          <a:prstGeom prst="rect">
            <a:avLst/>
          </a:prstGeom>
          <a:noFill/>
          <a:ln>
            <a:noFill/>
          </a:ln>
        </p:spPr>
        <p:txBody>
          <a:bodyPr spcFirstLastPara="1" wrap="square" lIns="0" tIns="0" rIns="0" bIns="0" anchor="t" anchorCtr="0">
            <a:spAutoFit/>
          </a:bodyPr>
          <a:lstStyle/>
          <a:p>
            <a:pPr marL="0" marR="0" lvl="0" indent="0" algn="ctr" rtl="0">
              <a:lnSpc>
                <a:spcPct val="133333"/>
              </a:lnSpc>
              <a:spcBef>
                <a:spcPts val="0"/>
              </a:spcBef>
              <a:spcAft>
                <a:spcPts val="0"/>
              </a:spcAft>
              <a:buNone/>
            </a:pPr>
            <a:r>
              <a:rPr lang="en-US" sz="1500" b="0" i="0" u="none" strike="noStrike" cap="none">
                <a:solidFill>
                  <a:srgbClr val="CBD5E1"/>
                </a:solidFill>
                <a:latin typeface="Inter"/>
                <a:ea typeface="Inter"/>
                <a:cs typeface="Inter"/>
                <a:sym typeface="Inter"/>
              </a:rPr>
              <a:t>Ensemble Methods</a:t>
            </a:r>
            <a:br>
              <a:rPr lang="en-US" sz="1800" b="0" i="0" u="none" strike="noStrike" cap="none">
                <a:solidFill>
                  <a:schemeClr val="dk1"/>
                </a:solidFill>
                <a:latin typeface="Calibri"/>
                <a:ea typeface="Calibri"/>
                <a:cs typeface="Calibri"/>
                <a:sym typeface="Calibri"/>
              </a:rPr>
            </a:br>
            <a:r>
              <a:rPr lang="en-US" sz="1500" b="0" i="0" u="none" strike="noStrike" cap="none">
                <a:solidFill>
                  <a:srgbClr val="CBD5E1"/>
                </a:solidFill>
                <a:latin typeface="Inter"/>
                <a:ea typeface="Inter"/>
                <a:cs typeface="Inter"/>
                <a:sym typeface="Inter"/>
              </a:rPr>
              <a:t> (RF &amp; XGBoost)</a:t>
            </a:r>
            <a:endParaRPr/>
          </a:p>
        </p:txBody>
      </p:sp>
      <p:pic>
        <p:nvPicPr>
          <p:cNvPr id="214" name="Google Shape;214;p20" descr="image.png"/>
          <p:cNvPicPr preferRelativeResize="0"/>
          <p:nvPr/>
        </p:nvPicPr>
        <p:blipFill rotWithShape="1">
          <a:blip r:embed="rId8">
            <a:alphaModFix/>
          </a:blip>
          <a:srcRect/>
          <a:stretch/>
        </p:blipFill>
        <p:spPr>
          <a:xfrm>
            <a:off x="1652587" y="2433637"/>
            <a:ext cx="400050" cy="457200"/>
          </a:xfrm>
          <a:prstGeom prst="rect">
            <a:avLst/>
          </a:prstGeom>
          <a:noFill/>
          <a:ln>
            <a:noFill/>
          </a:ln>
        </p:spPr>
      </p:pic>
      <p:pic>
        <p:nvPicPr>
          <p:cNvPr id="215" name="Google Shape;215;p20" descr="image.png"/>
          <p:cNvPicPr preferRelativeResize="0"/>
          <p:nvPr/>
        </p:nvPicPr>
        <p:blipFill rotWithShape="1">
          <a:blip r:embed="rId9">
            <a:alphaModFix/>
          </a:blip>
          <a:srcRect/>
          <a:stretch/>
        </p:blipFill>
        <p:spPr>
          <a:xfrm>
            <a:off x="4395787" y="2433637"/>
            <a:ext cx="571500" cy="457200"/>
          </a:xfrm>
          <a:prstGeom prst="rect">
            <a:avLst/>
          </a:prstGeom>
          <a:noFill/>
          <a:ln>
            <a:noFill/>
          </a:ln>
        </p:spPr>
      </p:pic>
      <p:pic>
        <p:nvPicPr>
          <p:cNvPr id="216" name="Google Shape;216;p20" descr="image.png"/>
          <p:cNvPicPr preferRelativeResize="0"/>
          <p:nvPr/>
        </p:nvPicPr>
        <p:blipFill rotWithShape="1">
          <a:blip r:embed="rId10">
            <a:alphaModFix/>
          </a:blip>
          <a:srcRect/>
          <a:stretch/>
        </p:blipFill>
        <p:spPr>
          <a:xfrm>
            <a:off x="7281862" y="2433637"/>
            <a:ext cx="457200" cy="457200"/>
          </a:xfrm>
          <a:prstGeom prst="rect">
            <a:avLst/>
          </a:prstGeom>
          <a:noFill/>
          <a:ln>
            <a:noFill/>
          </a:ln>
        </p:spPr>
      </p:pic>
      <p:pic>
        <p:nvPicPr>
          <p:cNvPr id="217" name="Google Shape;217;p20" descr="image.png"/>
          <p:cNvPicPr preferRelativeResize="0"/>
          <p:nvPr/>
        </p:nvPicPr>
        <p:blipFill rotWithShape="1">
          <a:blip r:embed="rId11">
            <a:alphaModFix/>
          </a:blip>
          <a:srcRect/>
          <a:stretch/>
        </p:blipFill>
        <p:spPr>
          <a:xfrm>
            <a:off x="10110787" y="2433637"/>
            <a:ext cx="457200" cy="457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Shape 221"/>
        <p:cNvGrpSpPr/>
        <p:nvPr/>
      </p:nvGrpSpPr>
      <p:grpSpPr>
        <a:xfrm>
          <a:off x="0" y="0"/>
          <a:ext cx="0" cy="0"/>
          <a:chOff x="0" y="0"/>
          <a:chExt cx="0" cy="0"/>
        </a:xfrm>
      </p:grpSpPr>
      <p:pic>
        <p:nvPicPr>
          <p:cNvPr id="222" name="Google Shape;222;p21"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24" name="Google Shape;224;p21"/>
          <p:cNvSpPr txBox="1"/>
          <p:nvPr/>
        </p:nvSpPr>
        <p:spPr>
          <a:xfrm>
            <a:off x="581025" y="581025"/>
            <a:ext cx="11581447" cy="495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F1F5F9"/>
                </a:solidFill>
                <a:latin typeface="Inter"/>
                <a:ea typeface="Inter"/>
                <a:cs typeface="Inter"/>
                <a:sym typeface="Inter"/>
              </a:rPr>
              <a:t>Dimensionality Reduction (PCA)</a:t>
            </a:r>
            <a:endParaRPr/>
          </a:p>
        </p:txBody>
      </p:sp>
      <p:sp>
        <p:nvSpPr>
          <p:cNvPr id="225" name="Google Shape;225;p21"/>
          <p:cNvSpPr/>
          <p:nvPr/>
        </p:nvSpPr>
        <p:spPr>
          <a:xfrm>
            <a:off x="581025" y="1257300"/>
            <a:ext cx="11029950"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7" name="Google Shape;227;p21"/>
          <p:cNvSpPr txBox="1"/>
          <p:nvPr/>
        </p:nvSpPr>
        <p:spPr>
          <a:xfrm>
            <a:off x="4668564" y="2447925"/>
            <a:ext cx="5490686"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dirty="0">
                <a:solidFill>
                  <a:srgbClr val="60A5FA"/>
                </a:solidFill>
                <a:latin typeface="Inter"/>
                <a:ea typeface="Inter"/>
                <a:cs typeface="Inter"/>
                <a:sym typeface="Inter"/>
              </a:rPr>
              <a:t>Optimizing Feature Space</a:t>
            </a:r>
            <a:endParaRPr dirty="0"/>
          </a:p>
        </p:txBody>
      </p:sp>
      <p:sp>
        <p:nvSpPr>
          <p:cNvPr id="228" name="Google Shape;228;p21"/>
          <p:cNvSpPr txBox="1"/>
          <p:nvPr/>
        </p:nvSpPr>
        <p:spPr>
          <a:xfrm>
            <a:off x="766763" y="3257550"/>
            <a:ext cx="5229225" cy="196977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000" b="0" i="0" u="none" strike="noStrike" cap="none" dirty="0">
                <a:solidFill>
                  <a:srgbClr val="CBD5E1"/>
                </a:solidFill>
                <a:latin typeface="Inter"/>
                <a:ea typeface="Inter"/>
                <a:cs typeface="Inter"/>
                <a:sym typeface="Inter"/>
              </a:rPr>
              <a:t>Encoding categorical variables resulted in a high-dimensional feature space (48 features), increasing computational cost and risk of overfitting.</a:t>
            </a:r>
            <a:endParaRPr sz="2000" dirty="0"/>
          </a:p>
        </p:txBody>
      </p:sp>
      <p:sp>
        <p:nvSpPr>
          <p:cNvPr id="229" name="Google Shape;229;p21"/>
          <p:cNvSpPr txBox="1"/>
          <p:nvPr/>
        </p:nvSpPr>
        <p:spPr>
          <a:xfrm>
            <a:off x="7143750" y="3381375"/>
            <a:ext cx="4467225"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CBD5E1"/>
                </a:solidFill>
                <a:latin typeface="Inter"/>
                <a:ea typeface="Inter"/>
                <a:cs typeface="Inter"/>
                <a:sym typeface="Inter"/>
              </a:rPr>
              <a:t>Method:</a:t>
            </a:r>
            <a:r>
              <a:rPr lang="en-US" sz="1500" b="0" i="0" u="none" strike="noStrike" cap="none">
                <a:solidFill>
                  <a:srgbClr val="CBD5E1"/>
                </a:solidFill>
                <a:latin typeface="Inter"/>
                <a:ea typeface="Inter"/>
                <a:cs typeface="Inter"/>
                <a:sym typeface="Inter"/>
              </a:rPr>
              <a:t> Principal Component Analysis (PCA).</a:t>
            </a:r>
            <a:endParaRPr/>
          </a:p>
        </p:txBody>
      </p:sp>
      <p:sp>
        <p:nvSpPr>
          <p:cNvPr id="230" name="Google Shape;230;p21"/>
          <p:cNvSpPr txBox="1"/>
          <p:nvPr/>
        </p:nvSpPr>
        <p:spPr>
          <a:xfrm>
            <a:off x="7143750" y="3924300"/>
            <a:ext cx="4467225"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CBD5E1"/>
                </a:solidFill>
                <a:latin typeface="Inter"/>
                <a:ea typeface="Inter"/>
                <a:cs typeface="Inter"/>
                <a:sym typeface="Inter"/>
              </a:rPr>
              <a:t>Threshold:</a:t>
            </a:r>
            <a:r>
              <a:rPr lang="en-US" sz="1500" b="0" i="0" u="none" strike="noStrike" cap="none">
                <a:solidFill>
                  <a:srgbClr val="CBD5E1"/>
                </a:solidFill>
                <a:latin typeface="Inter"/>
                <a:ea typeface="Inter"/>
                <a:cs typeface="Inter"/>
                <a:sym typeface="Inter"/>
              </a:rPr>
              <a:t> Retained </a:t>
            </a:r>
            <a:r>
              <a:rPr lang="en-US" sz="1500" b="1" i="0" u="none" strike="noStrike" cap="none">
                <a:solidFill>
                  <a:srgbClr val="10B981"/>
                </a:solidFill>
                <a:latin typeface="Inter"/>
                <a:ea typeface="Inter"/>
                <a:cs typeface="Inter"/>
                <a:sym typeface="Inter"/>
              </a:rPr>
              <a:t>95%</a:t>
            </a:r>
            <a:r>
              <a:rPr lang="en-US" sz="1500" b="0" i="0" u="none" strike="noStrike" cap="none">
                <a:solidFill>
                  <a:srgbClr val="CBD5E1"/>
                </a:solidFill>
                <a:latin typeface="Inter"/>
                <a:ea typeface="Inter"/>
                <a:cs typeface="Inter"/>
                <a:sym typeface="Inter"/>
              </a:rPr>
              <a:t> of variance.</a:t>
            </a:r>
            <a:endParaRPr/>
          </a:p>
        </p:txBody>
      </p:sp>
      <p:sp>
        <p:nvSpPr>
          <p:cNvPr id="231" name="Google Shape;231;p21"/>
          <p:cNvSpPr txBox="1"/>
          <p:nvPr/>
        </p:nvSpPr>
        <p:spPr>
          <a:xfrm>
            <a:off x="7143750" y="4467225"/>
            <a:ext cx="4467225"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CBD5E1"/>
                </a:solidFill>
                <a:latin typeface="Inter"/>
                <a:ea typeface="Inter"/>
                <a:cs typeface="Inter"/>
                <a:sym typeface="Inter"/>
              </a:rPr>
              <a:t>Result:</a:t>
            </a:r>
            <a:r>
              <a:rPr lang="en-US" sz="1500" b="0" i="0" u="none" strike="noStrike" cap="none">
                <a:solidFill>
                  <a:srgbClr val="CBD5E1"/>
                </a:solidFill>
                <a:latin typeface="Inter"/>
                <a:ea typeface="Inter"/>
                <a:cs typeface="Inter"/>
                <a:sym typeface="Inter"/>
              </a:rPr>
              <a:t> Reduced features from 48 to </a:t>
            </a:r>
            <a:r>
              <a:rPr lang="en-US" sz="1500" b="1" i="0" u="none" strike="noStrike" cap="none">
                <a:solidFill>
                  <a:srgbClr val="CBD5E1"/>
                </a:solidFill>
                <a:latin typeface="Inter"/>
                <a:ea typeface="Inter"/>
                <a:cs typeface="Inter"/>
                <a:sym typeface="Inter"/>
              </a:rPr>
              <a:t>22 components</a:t>
            </a:r>
            <a:r>
              <a:rPr lang="en-US" sz="1500" b="0" i="0" u="none" strike="noStrike" cap="none">
                <a:solidFill>
                  <a:srgbClr val="CBD5E1"/>
                </a:solidFill>
                <a:latin typeface="Inter"/>
                <a:ea typeface="Inter"/>
                <a:cs typeface="Inter"/>
                <a:sym typeface="Inter"/>
              </a:rPr>
              <a:t>.</a:t>
            </a:r>
            <a:endParaRPr/>
          </a:p>
        </p:txBody>
      </p:sp>
      <p:sp>
        <p:nvSpPr>
          <p:cNvPr id="232" name="Google Shape;232;p21"/>
          <p:cNvSpPr txBox="1"/>
          <p:nvPr/>
        </p:nvSpPr>
        <p:spPr>
          <a:xfrm>
            <a:off x="7143750" y="5314950"/>
            <a:ext cx="4467225"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CBD5E1"/>
                </a:solidFill>
                <a:latin typeface="Inter"/>
                <a:ea typeface="Inter"/>
                <a:cs typeface="Inter"/>
                <a:sym typeface="Inter"/>
              </a:rPr>
              <a:t>Benefit:</a:t>
            </a:r>
            <a:r>
              <a:rPr lang="en-US" sz="1500" b="0" i="0" u="none" strike="noStrike" cap="none">
                <a:solidFill>
                  <a:srgbClr val="CBD5E1"/>
                </a:solidFill>
                <a:latin typeface="Inter"/>
                <a:ea typeface="Inter"/>
                <a:cs typeface="Inter"/>
                <a:sym typeface="Inter"/>
              </a:rPr>
              <a:t> Faster training and reduced multicollinearity.</a:t>
            </a:r>
            <a:endParaRPr/>
          </a:p>
        </p:txBody>
      </p:sp>
      <p:pic>
        <p:nvPicPr>
          <p:cNvPr id="233" name="Google Shape;233;p21" descr="image.png"/>
          <p:cNvPicPr preferRelativeResize="0"/>
          <p:nvPr/>
        </p:nvPicPr>
        <p:blipFill rotWithShape="1">
          <a:blip r:embed="rId4">
            <a:alphaModFix/>
          </a:blip>
          <a:srcRect/>
          <a:stretch/>
        </p:blipFill>
        <p:spPr>
          <a:xfrm>
            <a:off x="6762750" y="3381375"/>
            <a:ext cx="200025" cy="247650"/>
          </a:xfrm>
          <a:prstGeom prst="rect">
            <a:avLst/>
          </a:prstGeom>
          <a:noFill/>
          <a:ln>
            <a:noFill/>
          </a:ln>
        </p:spPr>
      </p:pic>
      <p:pic>
        <p:nvPicPr>
          <p:cNvPr id="234" name="Google Shape;234;p21" descr="image.png"/>
          <p:cNvPicPr preferRelativeResize="0"/>
          <p:nvPr/>
        </p:nvPicPr>
        <p:blipFill rotWithShape="1">
          <a:blip r:embed="rId4">
            <a:alphaModFix/>
          </a:blip>
          <a:srcRect/>
          <a:stretch/>
        </p:blipFill>
        <p:spPr>
          <a:xfrm>
            <a:off x="6762750" y="3924300"/>
            <a:ext cx="200025" cy="247650"/>
          </a:xfrm>
          <a:prstGeom prst="rect">
            <a:avLst/>
          </a:prstGeom>
          <a:noFill/>
          <a:ln>
            <a:noFill/>
          </a:ln>
        </p:spPr>
      </p:pic>
      <p:pic>
        <p:nvPicPr>
          <p:cNvPr id="235" name="Google Shape;235;p21" descr="image.png"/>
          <p:cNvPicPr preferRelativeResize="0"/>
          <p:nvPr/>
        </p:nvPicPr>
        <p:blipFill rotWithShape="1">
          <a:blip r:embed="rId4">
            <a:alphaModFix/>
          </a:blip>
          <a:srcRect/>
          <a:stretch/>
        </p:blipFill>
        <p:spPr>
          <a:xfrm>
            <a:off x="6762750" y="4467225"/>
            <a:ext cx="200025" cy="247650"/>
          </a:xfrm>
          <a:prstGeom prst="rect">
            <a:avLst/>
          </a:prstGeom>
          <a:noFill/>
          <a:ln>
            <a:noFill/>
          </a:ln>
        </p:spPr>
      </p:pic>
      <p:pic>
        <p:nvPicPr>
          <p:cNvPr id="236" name="Google Shape;236;p21" descr="image.png"/>
          <p:cNvPicPr preferRelativeResize="0"/>
          <p:nvPr/>
        </p:nvPicPr>
        <p:blipFill rotWithShape="1">
          <a:blip r:embed="rId4">
            <a:alphaModFix/>
          </a:blip>
          <a:srcRect/>
          <a:stretch/>
        </p:blipFill>
        <p:spPr>
          <a:xfrm>
            <a:off x="6762750" y="5314950"/>
            <a:ext cx="200025" cy="2476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Shape 240"/>
        <p:cNvGrpSpPr/>
        <p:nvPr/>
      </p:nvGrpSpPr>
      <p:grpSpPr>
        <a:xfrm>
          <a:off x="0" y="0"/>
          <a:ext cx="0" cy="0"/>
          <a:chOff x="0" y="0"/>
          <a:chExt cx="0" cy="0"/>
        </a:xfrm>
      </p:grpSpPr>
      <p:pic>
        <p:nvPicPr>
          <p:cNvPr id="241" name="Google Shape;241;p22"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42" name="Google Shape;242;p22" descr="image.png"/>
          <p:cNvPicPr preferRelativeResize="0"/>
          <p:nvPr/>
        </p:nvPicPr>
        <p:blipFill rotWithShape="1">
          <a:blip r:embed="rId4">
            <a:alphaModFix/>
          </a:blip>
          <a:srcRect/>
          <a:stretch/>
        </p:blipFill>
        <p:spPr>
          <a:xfrm>
            <a:off x="581025" y="2133600"/>
            <a:ext cx="5229225" cy="3657600"/>
          </a:xfrm>
          <a:prstGeom prst="rect">
            <a:avLst/>
          </a:prstGeom>
          <a:noFill/>
          <a:ln>
            <a:noFill/>
          </a:ln>
        </p:spPr>
      </p:pic>
      <p:pic>
        <p:nvPicPr>
          <p:cNvPr id="243" name="Google Shape;243;p22" descr="image.png"/>
          <p:cNvPicPr preferRelativeResize="0"/>
          <p:nvPr/>
        </p:nvPicPr>
        <p:blipFill rotWithShape="1">
          <a:blip r:embed="rId5">
            <a:alphaModFix/>
          </a:blip>
          <a:srcRect/>
          <a:stretch/>
        </p:blipFill>
        <p:spPr>
          <a:xfrm>
            <a:off x="6381750" y="2133600"/>
            <a:ext cx="5229225" cy="3657600"/>
          </a:xfrm>
          <a:prstGeom prst="rect">
            <a:avLst/>
          </a:prstGeom>
          <a:noFill/>
          <a:ln>
            <a:noFill/>
          </a:ln>
        </p:spPr>
      </p:pic>
      <p:sp>
        <p:nvSpPr>
          <p:cNvPr id="244" name="Google Shape;244;p22"/>
          <p:cNvSpPr txBox="1"/>
          <p:nvPr/>
        </p:nvSpPr>
        <p:spPr>
          <a:xfrm>
            <a:off x="581025" y="581025"/>
            <a:ext cx="11581447" cy="495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F1F5F9"/>
                </a:solidFill>
                <a:latin typeface="Inter"/>
                <a:ea typeface="Inter"/>
                <a:cs typeface="Inter"/>
                <a:sym typeface="Inter"/>
              </a:rPr>
              <a:t>Modeling Methodology</a:t>
            </a:r>
            <a:endParaRPr/>
          </a:p>
        </p:txBody>
      </p:sp>
      <p:sp>
        <p:nvSpPr>
          <p:cNvPr id="245" name="Google Shape;245;p22"/>
          <p:cNvSpPr/>
          <p:nvPr/>
        </p:nvSpPr>
        <p:spPr>
          <a:xfrm>
            <a:off x="581025" y="1257300"/>
            <a:ext cx="11029950"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6" name="Google Shape;246;p22"/>
          <p:cNvSpPr txBox="1"/>
          <p:nvPr/>
        </p:nvSpPr>
        <p:spPr>
          <a:xfrm>
            <a:off x="971550" y="2714625"/>
            <a:ext cx="4670583"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60A5FA"/>
                </a:solidFill>
                <a:latin typeface="Inter"/>
                <a:ea typeface="Inter"/>
                <a:cs typeface="Inter"/>
                <a:sym typeface="Inter"/>
              </a:rPr>
              <a:t>Random Forest</a:t>
            </a:r>
            <a:endParaRPr/>
          </a:p>
        </p:txBody>
      </p:sp>
      <p:sp>
        <p:nvSpPr>
          <p:cNvPr id="247" name="Google Shape;247;p22"/>
          <p:cNvSpPr txBox="1"/>
          <p:nvPr/>
        </p:nvSpPr>
        <p:spPr>
          <a:xfrm>
            <a:off x="971550" y="3228975"/>
            <a:ext cx="4448175"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CBD5E1"/>
                </a:solidFill>
                <a:latin typeface="Inter"/>
                <a:ea typeface="Inter"/>
                <a:cs typeface="Inter"/>
                <a:sym typeface="Inter"/>
              </a:rPr>
              <a:t>Bagging Technique:</a:t>
            </a:r>
            <a:r>
              <a:rPr lang="en-US" sz="1500" b="0" i="0" u="none" strike="noStrike" cap="none">
                <a:solidFill>
                  <a:srgbClr val="CBD5E1"/>
                </a:solidFill>
                <a:latin typeface="Inter"/>
                <a:ea typeface="Inter"/>
                <a:cs typeface="Inter"/>
                <a:sym typeface="Inter"/>
              </a:rPr>
              <a:t> Constructs multiple decision trees in parallel and averages their predictions.</a:t>
            </a:r>
            <a:endParaRPr/>
          </a:p>
        </p:txBody>
      </p:sp>
      <p:sp>
        <p:nvSpPr>
          <p:cNvPr id="248" name="Google Shape;248;p22"/>
          <p:cNvSpPr txBox="1"/>
          <p:nvPr/>
        </p:nvSpPr>
        <p:spPr>
          <a:xfrm>
            <a:off x="6772275" y="2714625"/>
            <a:ext cx="4670583"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60A5FA"/>
                </a:solidFill>
                <a:latin typeface="Inter"/>
                <a:ea typeface="Inter"/>
                <a:cs typeface="Inter"/>
                <a:sym typeface="Inter"/>
              </a:rPr>
              <a:t>XGBoost</a:t>
            </a:r>
            <a:endParaRPr/>
          </a:p>
        </p:txBody>
      </p:sp>
      <p:sp>
        <p:nvSpPr>
          <p:cNvPr id="249" name="Google Shape;249;p22"/>
          <p:cNvSpPr txBox="1"/>
          <p:nvPr/>
        </p:nvSpPr>
        <p:spPr>
          <a:xfrm>
            <a:off x="6772275" y="3228975"/>
            <a:ext cx="4448175"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CBD5E1"/>
                </a:solidFill>
                <a:latin typeface="Inter"/>
                <a:ea typeface="Inter"/>
                <a:cs typeface="Inter"/>
                <a:sym typeface="Inter"/>
              </a:rPr>
              <a:t>Boosting Technique:</a:t>
            </a:r>
            <a:r>
              <a:rPr lang="en-US" sz="1500" b="0" i="0" u="none" strike="noStrike" cap="none">
                <a:solidFill>
                  <a:srgbClr val="CBD5E1"/>
                </a:solidFill>
                <a:latin typeface="Inter"/>
                <a:ea typeface="Inter"/>
                <a:cs typeface="Inter"/>
                <a:sym typeface="Inter"/>
              </a:rPr>
              <a:t> Builds trees sequentially, where each new tree corrects errors made by the previous ones.</a:t>
            </a:r>
            <a:endParaRPr/>
          </a:p>
        </p:txBody>
      </p:sp>
      <p:pic>
        <p:nvPicPr>
          <p:cNvPr id="250" name="Google Shape;250;p22" descr="image.png"/>
          <p:cNvPicPr preferRelativeResize="0"/>
          <p:nvPr/>
        </p:nvPicPr>
        <p:blipFill rotWithShape="1">
          <a:blip r:embed="rId6">
            <a:alphaModFix/>
          </a:blip>
          <a:srcRect/>
          <a:stretch/>
        </p:blipFill>
        <p:spPr>
          <a:xfrm>
            <a:off x="971550" y="2543175"/>
            <a:ext cx="133350" cy="152400"/>
          </a:xfrm>
          <a:prstGeom prst="rect">
            <a:avLst/>
          </a:prstGeom>
          <a:noFill/>
          <a:ln>
            <a:noFill/>
          </a:ln>
        </p:spPr>
      </p:pic>
      <p:sp>
        <p:nvSpPr>
          <p:cNvPr id="251" name="Google Shape;251;p22"/>
          <p:cNvSpPr txBox="1"/>
          <p:nvPr/>
        </p:nvSpPr>
        <p:spPr>
          <a:xfrm>
            <a:off x="1247775" y="4333875"/>
            <a:ext cx="104775"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CBD5E1"/>
                </a:solidFill>
                <a:latin typeface="Inter"/>
                <a:ea typeface="Inter"/>
                <a:cs typeface="Inter"/>
                <a:sym typeface="Inter"/>
              </a:rPr>
              <a:t>•</a:t>
            </a:r>
            <a:endParaRPr/>
          </a:p>
        </p:txBody>
      </p:sp>
      <p:sp>
        <p:nvSpPr>
          <p:cNvPr id="252" name="Google Shape;252;p22"/>
          <p:cNvSpPr txBox="1"/>
          <p:nvPr/>
        </p:nvSpPr>
        <p:spPr>
          <a:xfrm>
            <a:off x="1352550" y="4333875"/>
            <a:ext cx="4067175" cy="304800"/>
          </a:xfrm>
          <a:prstGeom prst="rect">
            <a:avLst/>
          </a:prstGeom>
          <a:noFill/>
          <a:ln>
            <a:noFill/>
          </a:ln>
        </p:spPr>
        <p:txBody>
          <a:bodyPr spcFirstLastPara="1" wrap="square" lIns="104775"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CBD5E1"/>
                </a:solidFill>
                <a:latin typeface="Inter"/>
                <a:ea typeface="Inter"/>
                <a:cs typeface="Inter"/>
                <a:sym typeface="Inter"/>
              </a:rPr>
              <a:t>Handles non-linear relationships well.</a:t>
            </a:r>
            <a:endParaRPr/>
          </a:p>
        </p:txBody>
      </p:sp>
      <p:sp>
        <p:nvSpPr>
          <p:cNvPr id="253" name="Google Shape;253;p22"/>
          <p:cNvSpPr txBox="1"/>
          <p:nvPr/>
        </p:nvSpPr>
        <p:spPr>
          <a:xfrm>
            <a:off x="1247775" y="4638675"/>
            <a:ext cx="104775"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CBD5E1"/>
                </a:solidFill>
                <a:latin typeface="Inter"/>
                <a:ea typeface="Inter"/>
                <a:cs typeface="Inter"/>
                <a:sym typeface="Inter"/>
              </a:rPr>
              <a:t>•</a:t>
            </a:r>
            <a:endParaRPr/>
          </a:p>
        </p:txBody>
      </p:sp>
      <p:sp>
        <p:nvSpPr>
          <p:cNvPr id="254" name="Google Shape;254;p22"/>
          <p:cNvSpPr txBox="1"/>
          <p:nvPr/>
        </p:nvSpPr>
        <p:spPr>
          <a:xfrm>
            <a:off x="1352550" y="4638675"/>
            <a:ext cx="4067175" cy="304800"/>
          </a:xfrm>
          <a:prstGeom prst="rect">
            <a:avLst/>
          </a:prstGeom>
          <a:noFill/>
          <a:ln>
            <a:noFill/>
          </a:ln>
        </p:spPr>
        <p:txBody>
          <a:bodyPr spcFirstLastPara="1" wrap="square" lIns="104775"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CBD5E1"/>
                </a:solidFill>
                <a:latin typeface="Inter"/>
                <a:ea typeface="Inter"/>
                <a:cs typeface="Inter"/>
                <a:sym typeface="Inter"/>
              </a:rPr>
              <a:t>Robust to outliers.</a:t>
            </a:r>
            <a:endParaRPr/>
          </a:p>
        </p:txBody>
      </p:sp>
      <p:sp>
        <p:nvSpPr>
          <p:cNvPr id="255" name="Google Shape;255;p22"/>
          <p:cNvSpPr txBox="1"/>
          <p:nvPr/>
        </p:nvSpPr>
        <p:spPr>
          <a:xfrm>
            <a:off x="1247775" y="4943475"/>
            <a:ext cx="104775"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CBD5E1"/>
                </a:solidFill>
                <a:latin typeface="Inter"/>
                <a:ea typeface="Inter"/>
                <a:cs typeface="Inter"/>
                <a:sym typeface="Inter"/>
              </a:rPr>
              <a:t>•</a:t>
            </a:r>
            <a:endParaRPr/>
          </a:p>
        </p:txBody>
      </p:sp>
      <p:sp>
        <p:nvSpPr>
          <p:cNvPr id="256" name="Google Shape;256;p22"/>
          <p:cNvSpPr txBox="1"/>
          <p:nvPr/>
        </p:nvSpPr>
        <p:spPr>
          <a:xfrm>
            <a:off x="1352550" y="4943475"/>
            <a:ext cx="4067175" cy="304800"/>
          </a:xfrm>
          <a:prstGeom prst="rect">
            <a:avLst/>
          </a:prstGeom>
          <a:noFill/>
          <a:ln>
            <a:noFill/>
          </a:ln>
        </p:spPr>
        <p:txBody>
          <a:bodyPr spcFirstLastPara="1" wrap="square" lIns="104775"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CBD5E1"/>
                </a:solidFill>
                <a:latin typeface="Inter"/>
                <a:ea typeface="Inter"/>
                <a:cs typeface="Inter"/>
                <a:sym typeface="Inter"/>
              </a:rPr>
              <a:t>Less prone to overfitting than single trees.</a:t>
            </a:r>
            <a:endParaRPr/>
          </a:p>
        </p:txBody>
      </p:sp>
      <p:pic>
        <p:nvPicPr>
          <p:cNvPr id="257" name="Google Shape;257;p22" descr="image.png"/>
          <p:cNvPicPr preferRelativeResize="0"/>
          <p:nvPr/>
        </p:nvPicPr>
        <p:blipFill rotWithShape="1">
          <a:blip r:embed="rId7">
            <a:alphaModFix/>
          </a:blip>
          <a:srcRect/>
          <a:stretch/>
        </p:blipFill>
        <p:spPr>
          <a:xfrm>
            <a:off x="6772275" y="2543175"/>
            <a:ext cx="152400" cy="152400"/>
          </a:xfrm>
          <a:prstGeom prst="rect">
            <a:avLst/>
          </a:prstGeom>
          <a:noFill/>
          <a:ln>
            <a:noFill/>
          </a:ln>
        </p:spPr>
      </p:pic>
      <p:sp>
        <p:nvSpPr>
          <p:cNvPr id="258" name="Google Shape;258;p22"/>
          <p:cNvSpPr txBox="1"/>
          <p:nvPr/>
        </p:nvSpPr>
        <p:spPr>
          <a:xfrm>
            <a:off x="7048500" y="4333875"/>
            <a:ext cx="104775"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CBD5E1"/>
                </a:solidFill>
                <a:latin typeface="Inter"/>
                <a:ea typeface="Inter"/>
                <a:cs typeface="Inter"/>
                <a:sym typeface="Inter"/>
              </a:rPr>
              <a:t>•</a:t>
            </a:r>
            <a:endParaRPr/>
          </a:p>
        </p:txBody>
      </p:sp>
      <p:sp>
        <p:nvSpPr>
          <p:cNvPr id="259" name="Google Shape;259;p22"/>
          <p:cNvSpPr txBox="1"/>
          <p:nvPr/>
        </p:nvSpPr>
        <p:spPr>
          <a:xfrm>
            <a:off x="7153275" y="4333875"/>
            <a:ext cx="4067175" cy="304800"/>
          </a:xfrm>
          <a:prstGeom prst="rect">
            <a:avLst/>
          </a:prstGeom>
          <a:noFill/>
          <a:ln>
            <a:noFill/>
          </a:ln>
        </p:spPr>
        <p:txBody>
          <a:bodyPr spcFirstLastPara="1" wrap="square" lIns="104775"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CBD5E1"/>
                </a:solidFill>
                <a:latin typeface="Inter"/>
                <a:ea typeface="Inter"/>
                <a:cs typeface="Inter"/>
                <a:sym typeface="Inter"/>
              </a:rPr>
              <a:t>Gradient Boosting framework.</a:t>
            </a:r>
            <a:endParaRPr/>
          </a:p>
        </p:txBody>
      </p:sp>
      <p:sp>
        <p:nvSpPr>
          <p:cNvPr id="260" name="Google Shape;260;p22"/>
          <p:cNvSpPr txBox="1"/>
          <p:nvPr/>
        </p:nvSpPr>
        <p:spPr>
          <a:xfrm>
            <a:off x="7048500" y="4638675"/>
            <a:ext cx="104775"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CBD5E1"/>
                </a:solidFill>
                <a:latin typeface="Inter"/>
                <a:ea typeface="Inter"/>
                <a:cs typeface="Inter"/>
                <a:sym typeface="Inter"/>
              </a:rPr>
              <a:t>•</a:t>
            </a:r>
            <a:endParaRPr/>
          </a:p>
        </p:txBody>
      </p:sp>
      <p:sp>
        <p:nvSpPr>
          <p:cNvPr id="261" name="Google Shape;261;p22"/>
          <p:cNvSpPr txBox="1"/>
          <p:nvPr/>
        </p:nvSpPr>
        <p:spPr>
          <a:xfrm>
            <a:off x="7153275" y="4638675"/>
            <a:ext cx="4067175" cy="304800"/>
          </a:xfrm>
          <a:prstGeom prst="rect">
            <a:avLst/>
          </a:prstGeom>
          <a:noFill/>
          <a:ln>
            <a:noFill/>
          </a:ln>
        </p:spPr>
        <p:txBody>
          <a:bodyPr spcFirstLastPara="1" wrap="square" lIns="104775"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CBD5E1"/>
                </a:solidFill>
                <a:latin typeface="Inter"/>
                <a:ea typeface="Inter"/>
                <a:cs typeface="Inter"/>
                <a:sym typeface="Inter"/>
              </a:rPr>
              <a:t>Built-in L1/L2 regularization.</a:t>
            </a:r>
            <a:endParaRPr/>
          </a:p>
        </p:txBody>
      </p:sp>
      <p:sp>
        <p:nvSpPr>
          <p:cNvPr id="262" name="Google Shape;262;p22"/>
          <p:cNvSpPr txBox="1"/>
          <p:nvPr/>
        </p:nvSpPr>
        <p:spPr>
          <a:xfrm>
            <a:off x="7048500" y="4943475"/>
            <a:ext cx="104775"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CBD5E1"/>
                </a:solidFill>
                <a:latin typeface="Inter"/>
                <a:ea typeface="Inter"/>
                <a:cs typeface="Inter"/>
                <a:sym typeface="Inter"/>
              </a:rPr>
              <a:t>•</a:t>
            </a:r>
            <a:endParaRPr/>
          </a:p>
        </p:txBody>
      </p:sp>
      <p:sp>
        <p:nvSpPr>
          <p:cNvPr id="263" name="Google Shape;263;p22"/>
          <p:cNvSpPr txBox="1"/>
          <p:nvPr/>
        </p:nvSpPr>
        <p:spPr>
          <a:xfrm>
            <a:off x="7153275" y="4943475"/>
            <a:ext cx="4067175" cy="304800"/>
          </a:xfrm>
          <a:prstGeom prst="rect">
            <a:avLst/>
          </a:prstGeom>
          <a:noFill/>
          <a:ln>
            <a:noFill/>
          </a:ln>
        </p:spPr>
        <p:txBody>
          <a:bodyPr spcFirstLastPara="1" wrap="square" lIns="104775"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CBD5E1"/>
                </a:solidFill>
                <a:latin typeface="Inter"/>
                <a:ea typeface="Inter"/>
                <a:cs typeface="Inter"/>
                <a:sym typeface="Inter"/>
              </a:rPr>
              <a:t>Optimized for speed and performance.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Shape 267"/>
        <p:cNvGrpSpPr/>
        <p:nvPr/>
      </p:nvGrpSpPr>
      <p:grpSpPr>
        <a:xfrm>
          <a:off x="0" y="0"/>
          <a:ext cx="0" cy="0"/>
          <a:chOff x="0" y="0"/>
          <a:chExt cx="0" cy="0"/>
        </a:xfrm>
      </p:grpSpPr>
      <p:pic>
        <p:nvPicPr>
          <p:cNvPr id="268" name="Google Shape;268;p2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69" name="Google Shape;269;p23"/>
          <p:cNvSpPr txBox="1"/>
          <p:nvPr/>
        </p:nvSpPr>
        <p:spPr>
          <a:xfrm>
            <a:off x="581025" y="363884"/>
            <a:ext cx="11581447" cy="495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F1F5F9"/>
                </a:solidFill>
                <a:latin typeface="Inter"/>
                <a:ea typeface="Inter"/>
                <a:cs typeface="Inter"/>
                <a:sym typeface="Inter"/>
              </a:rPr>
              <a:t>Hyperparameter Tuning</a:t>
            </a:r>
            <a:endParaRPr/>
          </a:p>
        </p:txBody>
      </p:sp>
      <p:sp>
        <p:nvSpPr>
          <p:cNvPr id="270" name="Google Shape;270;p23"/>
          <p:cNvSpPr/>
          <p:nvPr/>
        </p:nvSpPr>
        <p:spPr>
          <a:xfrm>
            <a:off x="581025" y="1040159"/>
            <a:ext cx="11029950"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1" name="Google Shape;271;p23"/>
          <p:cNvSpPr txBox="1"/>
          <p:nvPr/>
        </p:nvSpPr>
        <p:spPr>
          <a:xfrm>
            <a:off x="581025" y="1621184"/>
            <a:ext cx="11029950" cy="31432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CBD5E1"/>
                </a:solidFill>
                <a:latin typeface="Inter"/>
                <a:ea typeface="Inter"/>
                <a:cs typeface="Inter"/>
                <a:sym typeface="Inter"/>
              </a:rPr>
              <a:t>Systematic optimization using RandomizedSearchCV with 5-fold Cross-Validation.</a:t>
            </a:r>
            <a:endParaRPr/>
          </a:p>
        </p:txBody>
      </p:sp>
      <p:graphicFrame>
        <p:nvGraphicFramePr>
          <p:cNvPr id="272" name="Google Shape;272;p23"/>
          <p:cNvGraphicFramePr/>
          <p:nvPr>
            <p:extLst>
              <p:ext uri="{D42A27DB-BD31-4B8C-83A1-F6EECF244321}">
                <p14:modId xmlns:p14="http://schemas.microsoft.com/office/powerpoint/2010/main" val="2123311429"/>
              </p:ext>
            </p:extLst>
          </p:nvPr>
        </p:nvGraphicFramePr>
        <p:xfrm>
          <a:off x="581025" y="2316509"/>
          <a:ext cx="11029950" cy="3590875"/>
        </p:xfrm>
        <a:graphic>
          <a:graphicData uri="http://schemas.openxmlformats.org/drawingml/2006/table">
            <a:tbl>
              <a:tblPr firstRow="1" bandRow="1">
                <a:tableStyleId>{022B5880-0A1A-49A4-B1EC-A0E486FE1100}</a:tableStyleId>
              </a:tblPr>
              <a:tblGrid>
                <a:gridCol w="3383300">
                  <a:extLst>
                    <a:ext uri="{9D8B030D-6E8A-4147-A177-3AD203B41FA5}">
                      <a16:colId xmlns:a16="http://schemas.microsoft.com/office/drawing/2014/main" val="20000"/>
                    </a:ext>
                  </a:extLst>
                </a:gridCol>
                <a:gridCol w="4445350">
                  <a:extLst>
                    <a:ext uri="{9D8B030D-6E8A-4147-A177-3AD203B41FA5}">
                      <a16:colId xmlns:a16="http://schemas.microsoft.com/office/drawing/2014/main" val="20001"/>
                    </a:ext>
                  </a:extLst>
                </a:gridCol>
                <a:gridCol w="3201300">
                  <a:extLst>
                    <a:ext uri="{9D8B030D-6E8A-4147-A177-3AD203B41FA5}">
                      <a16:colId xmlns:a16="http://schemas.microsoft.com/office/drawing/2014/main" val="20002"/>
                    </a:ext>
                  </a:extLst>
                </a:gridCol>
              </a:tblGrid>
              <a:tr h="598475">
                <a:tc>
                  <a:txBody>
                    <a:bodyPr/>
                    <a:lstStyle/>
                    <a:p>
                      <a:pPr marL="0" marR="0" lvl="0" indent="0" algn="l" rtl="0">
                        <a:spcBef>
                          <a:spcPts val="0"/>
                        </a:spcBef>
                        <a:spcAft>
                          <a:spcPts val="0"/>
                        </a:spcAft>
                        <a:buNone/>
                      </a:pPr>
                      <a:r>
                        <a:rPr lang="en-US" sz="1500" b="1" u="none" strike="noStrike" cap="none">
                          <a:solidFill>
                            <a:srgbClr val="CBD5E1"/>
                          </a:solidFill>
                          <a:sym typeface="Inter"/>
                        </a:rPr>
                        <a:t>Parameter</a:t>
                      </a:r>
                      <a:endParaRPr/>
                    </a:p>
                  </a:txBody>
                  <a:tcPr marL="63500" marR="63500" marT="25400" marB="25400" anchor="ctr"/>
                </a:tc>
                <a:tc>
                  <a:txBody>
                    <a:bodyPr/>
                    <a:lstStyle/>
                    <a:p>
                      <a:pPr marL="0" marR="0" lvl="0" indent="0" algn="l" rtl="0">
                        <a:spcBef>
                          <a:spcPts val="0"/>
                        </a:spcBef>
                        <a:spcAft>
                          <a:spcPts val="0"/>
                        </a:spcAft>
                        <a:buNone/>
                      </a:pPr>
                      <a:r>
                        <a:rPr lang="en-US" sz="1500" b="1" u="none" strike="noStrike" cap="none">
                          <a:solidFill>
                            <a:srgbClr val="CBD5E1"/>
                          </a:solidFill>
                          <a:sym typeface="Inter"/>
                        </a:rPr>
                        <a:t>Random Forest (Best)</a:t>
                      </a:r>
                      <a:endParaRPr/>
                    </a:p>
                  </a:txBody>
                  <a:tcPr marL="63500" marR="63500" marT="25400" marB="25400" anchor="ctr"/>
                </a:tc>
                <a:tc>
                  <a:txBody>
                    <a:bodyPr/>
                    <a:lstStyle/>
                    <a:p>
                      <a:pPr marL="0" marR="0" lvl="0" indent="0" algn="l" rtl="0">
                        <a:spcBef>
                          <a:spcPts val="0"/>
                        </a:spcBef>
                        <a:spcAft>
                          <a:spcPts val="0"/>
                        </a:spcAft>
                        <a:buNone/>
                      </a:pPr>
                      <a:r>
                        <a:rPr lang="en-US" sz="1500" b="1" u="none" strike="noStrike" cap="none">
                          <a:solidFill>
                            <a:srgbClr val="CBD5E1"/>
                          </a:solidFill>
                          <a:sym typeface="Inter"/>
                        </a:rPr>
                        <a:t>XGBoost (Best)</a:t>
                      </a:r>
                      <a:endParaRPr/>
                    </a:p>
                  </a:txBody>
                  <a:tcPr marL="63500" marR="63500" marT="25400" marB="25400" anchor="ctr"/>
                </a:tc>
                <a:extLst>
                  <a:ext uri="{0D108BD9-81ED-4DB2-BD59-A6C34878D82A}">
                    <a16:rowId xmlns:a16="http://schemas.microsoft.com/office/drawing/2014/main" val="10000"/>
                  </a:ext>
                </a:extLst>
              </a:tr>
              <a:tr h="598475">
                <a:tc>
                  <a:txBody>
                    <a:bodyPr/>
                    <a:lstStyle/>
                    <a:p>
                      <a:pPr marL="0" marR="0" lvl="0" indent="0" algn="l" rtl="0">
                        <a:spcBef>
                          <a:spcPts val="0"/>
                        </a:spcBef>
                        <a:spcAft>
                          <a:spcPts val="0"/>
                        </a:spcAft>
                        <a:buNone/>
                      </a:pPr>
                      <a:r>
                        <a:rPr lang="en-US" sz="1500" b="1" u="none" strike="noStrike" cap="none">
                          <a:solidFill>
                            <a:schemeClr val="tx1"/>
                          </a:solidFill>
                          <a:sym typeface="Inter"/>
                        </a:rPr>
                        <a:t>N Estimators</a:t>
                      </a:r>
                      <a:endParaRPr>
                        <a:solidFill>
                          <a:schemeClr val="tx1"/>
                        </a:solidFill>
                      </a:endParaRPr>
                    </a:p>
                  </a:txBody>
                  <a:tcPr marL="63500" marR="63500" marT="25400" marB="25400" anchor="ctr"/>
                </a:tc>
                <a:tc>
                  <a:txBody>
                    <a:bodyPr/>
                    <a:lstStyle/>
                    <a:p>
                      <a:pPr marL="0" marR="0" lvl="0" indent="0" algn="l" rtl="0">
                        <a:spcBef>
                          <a:spcPts val="0"/>
                        </a:spcBef>
                        <a:spcAft>
                          <a:spcPts val="0"/>
                        </a:spcAft>
                        <a:buNone/>
                      </a:pPr>
                      <a:r>
                        <a:rPr lang="en-US" sz="1500" b="0" u="none" strike="noStrike" cap="none">
                          <a:solidFill>
                            <a:schemeClr val="tx1"/>
                          </a:solidFill>
                          <a:sym typeface="Inter"/>
                        </a:rPr>
                        <a:t>200</a:t>
                      </a:r>
                      <a:endParaRPr>
                        <a:solidFill>
                          <a:schemeClr val="tx1"/>
                        </a:solidFill>
                      </a:endParaRPr>
                    </a:p>
                  </a:txBody>
                  <a:tcPr marL="63500" marR="63500" marT="25400" marB="25400" anchor="ctr"/>
                </a:tc>
                <a:tc>
                  <a:txBody>
                    <a:bodyPr/>
                    <a:lstStyle/>
                    <a:p>
                      <a:pPr marL="0" marR="0" lvl="0" indent="0" algn="l" rtl="0">
                        <a:spcBef>
                          <a:spcPts val="0"/>
                        </a:spcBef>
                        <a:spcAft>
                          <a:spcPts val="0"/>
                        </a:spcAft>
                        <a:buNone/>
                      </a:pPr>
                      <a:r>
                        <a:rPr lang="en-US" sz="1500" b="0" u="none" strike="noStrike" cap="none">
                          <a:solidFill>
                            <a:schemeClr val="tx1"/>
                          </a:solidFill>
                          <a:sym typeface="Inter"/>
                        </a:rPr>
                        <a:t>200</a:t>
                      </a:r>
                      <a:endParaRPr>
                        <a:solidFill>
                          <a:schemeClr val="tx1"/>
                        </a:solidFill>
                      </a:endParaRPr>
                    </a:p>
                  </a:txBody>
                  <a:tcPr marL="63500" marR="63500" marT="25400" marB="25400" anchor="ctr"/>
                </a:tc>
                <a:extLst>
                  <a:ext uri="{0D108BD9-81ED-4DB2-BD59-A6C34878D82A}">
                    <a16:rowId xmlns:a16="http://schemas.microsoft.com/office/drawing/2014/main" val="10001"/>
                  </a:ext>
                </a:extLst>
              </a:tr>
              <a:tr h="598475">
                <a:tc>
                  <a:txBody>
                    <a:bodyPr/>
                    <a:lstStyle/>
                    <a:p>
                      <a:pPr marL="0" marR="0" lvl="0" indent="0" algn="l" rtl="0">
                        <a:spcBef>
                          <a:spcPts val="0"/>
                        </a:spcBef>
                        <a:spcAft>
                          <a:spcPts val="0"/>
                        </a:spcAft>
                        <a:buNone/>
                      </a:pPr>
                      <a:r>
                        <a:rPr lang="en-US" sz="1500" b="1" u="none" strike="noStrike" cap="none" dirty="0">
                          <a:solidFill>
                            <a:schemeClr val="tx1"/>
                          </a:solidFill>
                          <a:sym typeface="Inter"/>
                        </a:rPr>
                        <a:t>Max Depth</a:t>
                      </a:r>
                      <a:endParaRPr dirty="0">
                        <a:solidFill>
                          <a:schemeClr val="tx1"/>
                        </a:solidFill>
                      </a:endParaRPr>
                    </a:p>
                  </a:txBody>
                  <a:tcPr marL="63500" marR="63500" marT="25400" marB="25400" anchor="ctr"/>
                </a:tc>
                <a:tc>
                  <a:txBody>
                    <a:bodyPr/>
                    <a:lstStyle/>
                    <a:p>
                      <a:pPr marL="0" marR="0" lvl="0" indent="0" algn="l" rtl="0">
                        <a:spcBef>
                          <a:spcPts val="0"/>
                        </a:spcBef>
                        <a:spcAft>
                          <a:spcPts val="0"/>
                        </a:spcAft>
                        <a:buNone/>
                      </a:pPr>
                      <a:r>
                        <a:rPr lang="en-US" sz="1500" b="0" u="none" strike="noStrike" cap="none">
                          <a:solidFill>
                            <a:schemeClr val="tx1"/>
                          </a:solidFill>
                          <a:sym typeface="Inter"/>
                        </a:rPr>
                        <a:t>10</a:t>
                      </a:r>
                      <a:endParaRPr>
                        <a:solidFill>
                          <a:schemeClr val="tx1"/>
                        </a:solidFill>
                      </a:endParaRPr>
                    </a:p>
                  </a:txBody>
                  <a:tcPr marL="63500" marR="63500" marT="25400" marB="25400" anchor="ctr"/>
                </a:tc>
                <a:tc>
                  <a:txBody>
                    <a:bodyPr/>
                    <a:lstStyle/>
                    <a:p>
                      <a:pPr marL="0" marR="0" lvl="0" indent="0" algn="l" rtl="0">
                        <a:spcBef>
                          <a:spcPts val="0"/>
                        </a:spcBef>
                        <a:spcAft>
                          <a:spcPts val="0"/>
                        </a:spcAft>
                        <a:buNone/>
                      </a:pPr>
                      <a:r>
                        <a:rPr lang="en-US" sz="1500" b="0" u="none" strike="noStrike" cap="none">
                          <a:solidFill>
                            <a:schemeClr val="tx1"/>
                          </a:solidFill>
                          <a:sym typeface="Inter"/>
                        </a:rPr>
                        <a:t>6</a:t>
                      </a:r>
                      <a:endParaRPr>
                        <a:solidFill>
                          <a:schemeClr val="tx1"/>
                        </a:solidFill>
                      </a:endParaRPr>
                    </a:p>
                  </a:txBody>
                  <a:tcPr marL="63500" marR="63500" marT="25400" marB="25400" anchor="ctr"/>
                </a:tc>
                <a:extLst>
                  <a:ext uri="{0D108BD9-81ED-4DB2-BD59-A6C34878D82A}">
                    <a16:rowId xmlns:a16="http://schemas.microsoft.com/office/drawing/2014/main" val="10002"/>
                  </a:ext>
                </a:extLst>
              </a:tr>
              <a:tr h="598475">
                <a:tc>
                  <a:txBody>
                    <a:bodyPr/>
                    <a:lstStyle/>
                    <a:p>
                      <a:pPr marL="0" marR="0" lvl="0" indent="0" algn="l" rtl="0">
                        <a:spcBef>
                          <a:spcPts val="0"/>
                        </a:spcBef>
                        <a:spcAft>
                          <a:spcPts val="0"/>
                        </a:spcAft>
                        <a:buNone/>
                      </a:pPr>
                      <a:r>
                        <a:rPr lang="en-US" sz="1500" b="1" u="none" strike="noStrike" cap="none">
                          <a:solidFill>
                            <a:schemeClr val="tx1"/>
                          </a:solidFill>
                          <a:sym typeface="Inter"/>
                        </a:rPr>
                        <a:t>Learning Rate</a:t>
                      </a:r>
                      <a:endParaRPr>
                        <a:solidFill>
                          <a:schemeClr val="tx1"/>
                        </a:solidFill>
                      </a:endParaRPr>
                    </a:p>
                  </a:txBody>
                  <a:tcPr marL="63500" marR="63500" marT="25400" marB="25400" anchor="ctr"/>
                </a:tc>
                <a:tc>
                  <a:txBody>
                    <a:bodyPr/>
                    <a:lstStyle/>
                    <a:p>
                      <a:pPr marL="0" marR="0" lvl="0" indent="0" algn="l" rtl="0">
                        <a:spcBef>
                          <a:spcPts val="0"/>
                        </a:spcBef>
                        <a:spcAft>
                          <a:spcPts val="0"/>
                        </a:spcAft>
                        <a:buNone/>
                      </a:pPr>
                      <a:r>
                        <a:rPr lang="en-US" sz="1500" b="0" u="none" strike="noStrike" cap="none">
                          <a:solidFill>
                            <a:schemeClr val="tx1"/>
                          </a:solidFill>
                          <a:sym typeface="Inter"/>
                        </a:rPr>
                        <a:t>N/A</a:t>
                      </a:r>
                      <a:endParaRPr>
                        <a:solidFill>
                          <a:schemeClr val="tx1"/>
                        </a:solidFill>
                      </a:endParaRPr>
                    </a:p>
                  </a:txBody>
                  <a:tcPr marL="63500" marR="63500" marT="25400" marB="25400" anchor="ctr"/>
                </a:tc>
                <a:tc>
                  <a:txBody>
                    <a:bodyPr/>
                    <a:lstStyle/>
                    <a:p>
                      <a:pPr marL="0" marR="0" lvl="0" indent="0" algn="l" rtl="0">
                        <a:spcBef>
                          <a:spcPts val="0"/>
                        </a:spcBef>
                        <a:spcAft>
                          <a:spcPts val="0"/>
                        </a:spcAft>
                        <a:buNone/>
                      </a:pPr>
                      <a:r>
                        <a:rPr lang="en-US" sz="1500" b="0" u="none" strike="noStrike" cap="none">
                          <a:solidFill>
                            <a:schemeClr val="tx1"/>
                          </a:solidFill>
                          <a:sym typeface="Inter"/>
                        </a:rPr>
                        <a:t>0.1</a:t>
                      </a:r>
                      <a:endParaRPr>
                        <a:solidFill>
                          <a:schemeClr val="tx1"/>
                        </a:solidFill>
                      </a:endParaRPr>
                    </a:p>
                  </a:txBody>
                  <a:tcPr marL="63500" marR="63500" marT="25400" marB="25400" anchor="ctr"/>
                </a:tc>
                <a:extLst>
                  <a:ext uri="{0D108BD9-81ED-4DB2-BD59-A6C34878D82A}">
                    <a16:rowId xmlns:a16="http://schemas.microsoft.com/office/drawing/2014/main" val="10003"/>
                  </a:ext>
                </a:extLst>
              </a:tr>
              <a:tr h="598475">
                <a:tc>
                  <a:txBody>
                    <a:bodyPr/>
                    <a:lstStyle/>
                    <a:p>
                      <a:pPr marL="0" marR="0" lvl="0" indent="0" algn="l" rtl="0">
                        <a:spcBef>
                          <a:spcPts val="0"/>
                        </a:spcBef>
                        <a:spcAft>
                          <a:spcPts val="0"/>
                        </a:spcAft>
                        <a:buNone/>
                      </a:pPr>
                      <a:r>
                        <a:rPr lang="en-US" sz="1500" b="1" u="none" strike="noStrike" cap="none">
                          <a:solidFill>
                            <a:schemeClr val="tx1"/>
                          </a:solidFill>
                          <a:sym typeface="Inter"/>
                        </a:rPr>
                        <a:t>Min Samples / Child</a:t>
                      </a:r>
                      <a:endParaRPr>
                        <a:solidFill>
                          <a:schemeClr val="tx1"/>
                        </a:solidFill>
                      </a:endParaRPr>
                    </a:p>
                  </a:txBody>
                  <a:tcPr marL="63500" marR="63500" marT="25400" marB="25400" anchor="ctr"/>
                </a:tc>
                <a:tc>
                  <a:txBody>
                    <a:bodyPr/>
                    <a:lstStyle/>
                    <a:p>
                      <a:pPr marL="0" marR="0" lvl="0" indent="0" algn="l" rtl="0">
                        <a:spcBef>
                          <a:spcPts val="0"/>
                        </a:spcBef>
                        <a:spcAft>
                          <a:spcPts val="0"/>
                        </a:spcAft>
                        <a:buNone/>
                      </a:pPr>
                      <a:r>
                        <a:rPr lang="en-US" sz="1500" b="0" u="none" strike="noStrike" cap="none">
                          <a:solidFill>
                            <a:schemeClr val="tx1"/>
                          </a:solidFill>
                          <a:sym typeface="Inter"/>
                        </a:rPr>
                        <a:t>Split: 2</a:t>
                      </a:r>
                      <a:endParaRPr>
                        <a:solidFill>
                          <a:schemeClr val="tx1"/>
                        </a:solidFill>
                      </a:endParaRPr>
                    </a:p>
                  </a:txBody>
                  <a:tcPr marL="63500" marR="63500" marT="25400" marB="25400" anchor="ctr"/>
                </a:tc>
                <a:tc>
                  <a:txBody>
                    <a:bodyPr/>
                    <a:lstStyle/>
                    <a:p>
                      <a:pPr marL="0" marR="0" lvl="0" indent="0" algn="l" rtl="0">
                        <a:spcBef>
                          <a:spcPts val="0"/>
                        </a:spcBef>
                        <a:spcAft>
                          <a:spcPts val="0"/>
                        </a:spcAft>
                        <a:buNone/>
                      </a:pPr>
                      <a:r>
                        <a:rPr lang="en-US" sz="1500" b="0" u="none" strike="noStrike" cap="none">
                          <a:solidFill>
                            <a:schemeClr val="tx1"/>
                          </a:solidFill>
                          <a:sym typeface="Inter"/>
                        </a:rPr>
                        <a:t>Weight: 1</a:t>
                      </a:r>
                      <a:endParaRPr>
                        <a:solidFill>
                          <a:schemeClr val="tx1"/>
                        </a:solidFill>
                      </a:endParaRPr>
                    </a:p>
                  </a:txBody>
                  <a:tcPr marL="63500" marR="63500" marT="25400" marB="25400" anchor="ctr"/>
                </a:tc>
                <a:extLst>
                  <a:ext uri="{0D108BD9-81ED-4DB2-BD59-A6C34878D82A}">
                    <a16:rowId xmlns:a16="http://schemas.microsoft.com/office/drawing/2014/main" val="10004"/>
                  </a:ext>
                </a:extLst>
              </a:tr>
              <a:tr h="598500">
                <a:tc>
                  <a:txBody>
                    <a:bodyPr/>
                    <a:lstStyle/>
                    <a:p>
                      <a:pPr marL="0" marR="0" lvl="0" indent="0" algn="l" rtl="0">
                        <a:spcBef>
                          <a:spcPts val="0"/>
                        </a:spcBef>
                        <a:spcAft>
                          <a:spcPts val="0"/>
                        </a:spcAft>
                        <a:buNone/>
                      </a:pPr>
                      <a:r>
                        <a:rPr lang="en-US" sz="1500" b="1" u="none" strike="noStrike" cap="none">
                          <a:solidFill>
                            <a:schemeClr val="tx1"/>
                          </a:solidFill>
                          <a:sym typeface="Inter"/>
                        </a:rPr>
                        <a:t>Subsample</a:t>
                      </a:r>
                      <a:endParaRPr>
                        <a:solidFill>
                          <a:schemeClr val="tx1"/>
                        </a:solidFill>
                      </a:endParaRPr>
                    </a:p>
                  </a:txBody>
                  <a:tcPr marL="63500" marR="63500" marT="25400" marB="25400" anchor="ctr"/>
                </a:tc>
                <a:tc>
                  <a:txBody>
                    <a:bodyPr/>
                    <a:lstStyle/>
                    <a:p>
                      <a:pPr marL="0" marR="0" lvl="0" indent="0" algn="l" rtl="0">
                        <a:spcBef>
                          <a:spcPts val="0"/>
                        </a:spcBef>
                        <a:spcAft>
                          <a:spcPts val="0"/>
                        </a:spcAft>
                        <a:buNone/>
                      </a:pPr>
                      <a:r>
                        <a:rPr lang="en-US" sz="1500" b="0" u="none" strike="noStrike" cap="none">
                          <a:solidFill>
                            <a:schemeClr val="tx1"/>
                          </a:solidFill>
                          <a:sym typeface="Inter"/>
                        </a:rPr>
                        <a:t>N/A</a:t>
                      </a:r>
                      <a:endParaRPr>
                        <a:solidFill>
                          <a:schemeClr val="tx1"/>
                        </a:solidFill>
                      </a:endParaRPr>
                    </a:p>
                  </a:txBody>
                  <a:tcPr marL="63500" marR="63500" marT="25400" marB="25400" anchor="ctr"/>
                </a:tc>
                <a:tc>
                  <a:txBody>
                    <a:bodyPr/>
                    <a:lstStyle/>
                    <a:p>
                      <a:pPr marL="0" marR="0" lvl="0" indent="0" algn="l" rtl="0">
                        <a:spcBef>
                          <a:spcPts val="0"/>
                        </a:spcBef>
                        <a:spcAft>
                          <a:spcPts val="0"/>
                        </a:spcAft>
                        <a:buNone/>
                      </a:pPr>
                      <a:r>
                        <a:rPr lang="en-US" sz="1500" b="0" u="none" strike="noStrike" cap="none" dirty="0">
                          <a:solidFill>
                            <a:schemeClr val="tx1"/>
                          </a:solidFill>
                          <a:sym typeface="Inter"/>
                        </a:rPr>
                        <a:t>1.0</a:t>
                      </a:r>
                      <a:endParaRPr dirty="0">
                        <a:solidFill>
                          <a:schemeClr val="tx1"/>
                        </a:solidFill>
                      </a:endParaRPr>
                    </a:p>
                  </a:txBody>
                  <a:tcPr marL="63500" marR="63500" marT="25400" marB="25400" anchor="ctr"/>
                </a:tc>
                <a:extLst>
                  <a:ext uri="{0D108BD9-81ED-4DB2-BD59-A6C34878D82A}">
                    <a16:rowId xmlns:a16="http://schemas.microsoft.com/office/drawing/2014/main" val="10005"/>
                  </a:ext>
                </a:extLst>
              </a:tr>
            </a:tbl>
          </a:graphicData>
        </a:graphic>
      </p:graphicFrame>
      <p:sp>
        <p:nvSpPr>
          <p:cNvPr id="273" name="Google Shape;273;p23"/>
          <p:cNvSpPr txBox="1"/>
          <p:nvPr/>
        </p:nvSpPr>
        <p:spPr>
          <a:xfrm>
            <a:off x="581025" y="6097934"/>
            <a:ext cx="11029950" cy="443198"/>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800" b="0" i="0" u="none" strike="noStrike" cap="none" dirty="0">
                <a:solidFill>
                  <a:srgbClr val="64748B"/>
                </a:solidFill>
                <a:latin typeface="Inter"/>
                <a:ea typeface="Inter"/>
                <a:cs typeface="Inter"/>
                <a:sym typeface="Inter"/>
              </a:rPr>
              <a:t>*</a:t>
            </a:r>
            <a:r>
              <a:rPr lang="en-US" sz="1800" b="0" i="0" u="none" strike="noStrike" cap="none" dirty="0" err="1">
                <a:solidFill>
                  <a:srgbClr val="64748B"/>
                </a:solidFill>
                <a:latin typeface="Inter"/>
                <a:ea typeface="Inter"/>
                <a:cs typeface="Inter"/>
                <a:sym typeface="Inter"/>
              </a:rPr>
              <a:t>XGBoost</a:t>
            </a:r>
            <a:r>
              <a:rPr lang="en-US" sz="1800" b="0" i="0" u="none" strike="noStrike" cap="none" dirty="0">
                <a:solidFill>
                  <a:srgbClr val="64748B"/>
                </a:solidFill>
                <a:latin typeface="Inter"/>
                <a:ea typeface="Inter"/>
                <a:cs typeface="Inter"/>
                <a:sym typeface="Inter"/>
              </a:rPr>
              <a:t> also utilized Early Stopping to prevent overfitting.</a:t>
            </a:r>
            <a:endParaRPr sz="2000" dirty="0"/>
          </a:p>
        </p:txBody>
      </p:sp>
      <p:sp>
        <p:nvSpPr>
          <p:cNvPr id="274" name="Google Shape;274;p23"/>
          <p:cNvSpPr/>
          <p:nvPr/>
        </p:nvSpPr>
        <p:spPr>
          <a:xfrm>
            <a:off x="581025" y="2902297"/>
            <a:ext cx="3383309"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5" name="Google Shape;275;p23"/>
          <p:cNvSpPr/>
          <p:nvPr/>
        </p:nvSpPr>
        <p:spPr>
          <a:xfrm>
            <a:off x="3964334" y="2902297"/>
            <a:ext cx="4445347"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6" name="Google Shape;276;p23"/>
          <p:cNvSpPr/>
          <p:nvPr/>
        </p:nvSpPr>
        <p:spPr>
          <a:xfrm>
            <a:off x="8409682" y="2902297"/>
            <a:ext cx="3201292"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7" name="Google Shape;277;p23"/>
          <p:cNvSpPr/>
          <p:nvPr/>
        </p:nvSpPr>
        <p:spPr>
          <a:xfrm>
            <a:off x="581025" y="3502372"/>
            <a:ext cx="3383309"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8" name="Google Shape;278;p23"/>
          <p:cNvSpPr/>
          <p:nvPr/>
        </p:nvSpPr>
        <p:spPr>
          <a:xfrm>
            <a:off x="3964334" y="3502372"/>
            <a:ext cx="4445347"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9" name="Google Shape;279;p23"/>
          <p:cNvSpPr/>
          <p:nvPr/>
        </p:nvSpPr>
        <p:spPr>
          <a:xfrm>
            <a:off x="8409682" y="3502372"/>
            <a:ext cx="3201292"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0" name="Google Shape;280;p23"/>
          <p:cNvSpPr/>
          <p:nvPr/>
        </p:nvSpPr>
        <p:spPr>
          <a:xfrm>
            <a:off x="581025" y="4102447"/>
            <a:ext cx="3383309"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1" name="Google Shape;281;p23"/>
          <p:cNvSpPr/>
          <p:nvPr/>
        </p:nvSpPr>
        <p:spPr>
          <a:xfrm>
            <a:off x="3964334" y="4102447"/>
            <a:ext cx="4445347"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2" name="Google Shape;282;p23"/>
          <p:cNvSpPr/>
          <p:nvPr/>
        </p:nvSpPr>
        <p:spPr>
          <a:xfrm>
            <a:off x="8409682" y="4102447"/>
            <a:ext cx="3201292"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3" name="Google Shape;283;p23"/>
          <p:cNvSpPr/>
          <p:nvPr/>
        </p:nvSpPr>
        <p:spPr>
          <a:xfrm>
            <a:off x="581025" y="4702522"/>
            <a:ext cx="3383309"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4" name="Google Shape;284;p23"/>
          <p:cNvSpPr/>
          <p:nvPr/>
        </p:nvSpPr>
        <p:spPr>
          <a:xfrm>
            <a:off x="3964334" y="4702522"/>
            <a:ext cx="4445347"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5" name="Google Shape;285;p23"/>
          <p:cNvSpPr/>
          <p:nvPr/>
        </p:nvSpPr>
        <p:spPr>
          <a:xfrm>
            <a:off x="8409682" y="4702522"/>
            <a:ext cx="3201292"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6" name="Google Shape;286;p23"/>
          <p:cNvSpPr/>
          <p:nvPr/>
        </p:nvSpPr>
        <p:spPr>
          <a:xfrm>
            <a:off x="581025" y="5302597"/>
            <a:ext cx="3383309"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7" name="Google Shape;287;p23"/>
          <p:cNvSpPr/>
          <p:nvPr/>
        </p:nvSpPr>
        <p:spPr>
          <a:xfrm>
            <a:off x="3964334" y="5302597"/>
            <a:ext cx="4445347"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8" name="Google Shape;288;p23"/>
          <p:cNvSpPr/>
          <p:nvPr/>
        </p:nvSpPr>
        <p:spPr>
          <a:xfrm>
            <a:off x="8409682" y="5302597"/>
            <a:ext cx="3201292"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Shape 292"/>
        <p:cNvGrpSpPr/>
        <p:nvPr/>
      </p:nvGrpSpPr>
      <p:grpSpPr>
        <a:xfrm>
          <a:off x="0" y="0"/>
          <a:ext cx="0" cy="0"/>
          <a:chOff x="0" y="0"/>
          <a:chExt cx="0" cy="0"/>
        </a:xfrm>
      </p:grpSpPr>
      <p:pic>
        <p:nvPicPr>
          <p:cNvPr id="293" name="Google Shape;293;p24"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94" name="Google Shape;294;p24" descr="image.png"/>
          <p:cNvPicPr preferRelativeResize="0"/>
          <p:nvPr/>
        </p:nvPicPr>
        <p:blipFill rotWithShape="1">
          <a:blip r:embed="rId4">
            <a:alphaModFix/>
          </a:blip>
          <a:srcRect/>
          <a:stretch/>
        </p:blipFill>
        <p:spPr>
          <a:xfrm>
            <a:off x="581025" y="1647825"/>
            <a:ext cx="11029950" cy="4629150"/>
          </a:xfrm>
          <a:prstGeom prst="rect">
            <a:avLst/>
          </a:prstGeom>
          <a:noFill/>
          <a:ln>
            <a:noFill/>
          </a:ln>
        </p:spPr>
      </p:pic>
      <p:pic>
        <p:nvPicPr>
          <p:cNvPr id="295" name="Google Shape;295;p24" descr="image.png"/>
          <p:cNvPicPr preferRelativeResize="0"/>
          <p:nvPr/>
        </p:nvPicPr>
        <p:blipFill rotWithShape="1">
          <a:blip r:embed="rId5">
            <a:alphaModFix/>
          </a:blip>
          <a:srcRect/>
          <a:stretch/>
        </p:blipFill>
        <p:spPr>
          <a:xfrm>
            <a:off x="581025" y="4014787"/>
            <a:ext cx="11029950" cy="1371600"/>
          </a:xfrm>
          <a:prstGeom prst="rect">
            <a:avLst/>
          </a:prstGeom>
          <a:noFill/>
          <a:ln>
            <a:noFill/>
          </a:ln>
        </p:spPr>
      </p:pic>
      <p:sp>
        <p:nvSpPr>
          <p:cNvPr id="296" name="Google Shape;296;p24"/>
          <p:cNvSpPr txBox="1"/>
          <p:nvPr/>
        </p:nvSpPr>
        <p:spPr>
          <a:xfrm>
            <a:off x="581025" y="581025"/>
            <a:ext cx="11581447" cy="495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F1F5F9"/>
                </a:solidFill>
                <a:latin typeface="Inter"/>
                <a:ea typeface="Inter"/>
                <a:cs typeface="Inter"/>
                <a:sym typeface="Inter"/>
              </a:rPr>
              <a:t>Performance Results (RMSE)</a:t>
            </a:r>
            <a:endParaRPr/>
          </a:p>
        </p:txBody>
      </p:sp>
      <p:sp>
        <p:nvSpPr>
          <p:cNvPr id="297" name="Google Shape;297;p24"/>
          <p:cNvSpPr/>
          <p:nvPr/>
        </p:nvSpPr>
        <p:spPr>
          <a:xfrm>
            <a:off x="581025" y="1257300"/>
            <a:ext cx="11029950"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98" name="Google Shape;298;p24"/>
          <p:cNvSpPr txBox="1"/>
          <p:nvPr/>
        </p:nvSpPr>
        <p:spPr>
          <a:xfrm>
            <a:off x="790575" y="4257388"/>
            <a:ext cx="10610850" cy="886397"/>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800" b="1" i="0" u="none" strike="noStrike" cap="none" dirty="0">
                <a:solidFill>
                  <a:srgbClr val="CBD5E1"/>
                </a:solidFill>
                <a:latin typeface="Inter"/>
                <a:ea typeface="Inter"/>
                <a:cs typeface="Inter"/>
                <a:sym typeface="Inter"/>
              </a:rPr>
              <a:t>Conclusion:</a:t>
            </a:r>
            <a:r>
              <a:rPr lang="en-US" sz="1800" b="0" i="0" u="none" strike="noStrike" cap="none" dirty="0">
                <a:solidFill>
                  <a:srgbClr val="CBD5E1"/>
                </a:solidFill>
                <a:latin typeface="Inter"/>
                <a:ea typeface="Inter"/>
                <a:cs typeface="Inter"/>
                <a:sym typeface="Inter"/>
              </a:rPr>
              <a:t> </a:t>
            </a:r>
            <a:r>
              <a:rPr lang="en-US" sz="1800" b="0" i="0" u="none" strike="noStrike" cap="none" dirty="0" err="1">
                <a:solidFill>
                  <a:srgbClr val="CBD5E1"/>
                </a:solidFill>
                <a:latin typeface="Inter"/>
                <a:ea typeface="Inter"/>
                <a:cs typeface="Inter"/>
                <a:sym typeface="Inter"/>
              </a:rPr>
              <a:t>XGBoost</a:t>
            </a:r>
            <a:r>
              <a:rPr lang="en-US" sz="1800" b="0" i="0" u="none" strike="noStrike" cap="none" dirty="0">
                <a:solidFill>
                  <a:srgbClr val="CBD5E1"/>
                </a:solidFill>
                <a:latin typeface="Inter"/>
                <a:ea typeface="Inter"/>
                <a:cs typeface="Inter"/>
                <a:sym typeface="Inter"/>
              </a:rPr>
              <a:t> achieved a </a:t>
            </a:r>
            <a:r>
              <a:rPr lang="en-US" sz="1800" b="1" i="0" u="none" strike="noStrike" cap="none" dirty="0">
                <a:solidFill>
                  <a:srgbClr val="10B981"/>
                </a:solidFill>
                <a:latin typeface="Inter"/>
                <a:ea typeface="Inter"/>
                <a:cs typeface="Inter"/>
                <a:sym typeface="Inter"/>
              </a:rPr>
              <a:t>50.8% reduction in error</a:t>
            </a:r>
            <a:r>
              <a:rPr lang="en-US" sz="1800" b="0" i="0" u="none" strike="noStrike" cap="none" dirty="0">
                <a:solidFill>
                  <a:srgbClr val="CBD5E1"/>
                </a:solidFill>
                <a:latin typeface="Inter"/>
                <a:ea typeface="Inter"/>
                <a:cs typeface="Inter"/>
                <a:sym typeface="Inter"/>
              </a:rPr>
              <a:t> compared to Random Forest. The R² score for </a:t>
            </a:r>
            <a:r>
              <a:rPr lang="en-US" sz="1800" b="0" i="0" u="none" strike="noStrike" cap="none" dirty="0" err="1">
                <a:solidFill>
                  <a:srgbClr val="CBD5E1"/>
                </a:solidFill>
                <a:latin typeface="Inter"/>
                <a:ea typeface="Inter"/>
                <a:cs typeface="Inter"/>
                <a:sym typeface="Inter"/>
              </a:rPr>
              <a:t>XGBoost</a:t>
            </a:r>
            <a:r>
              <a:rPr lang="en-US" sz="1800" b="0" i="0" u="none" strike="noStrike" cap="none" dirty="0">
                <a:solidFill>
                  <a:srgbClr val="CBD5E1"/>
                </a:solidFill>
                <a:latin typeface="Inter"/>
                <a:ea typeface="Inter"/>
                <a:cs typeface="Inter"/>
                <a:sym typeface="Inter"/>
              </a:rPr>
              <a:t> was </a:t>
            </a:r>
            <a:r>
              <a:rPr lang="en-US" sz="1800" b="1" i="0" u="none" strike="noStrike" cap="none" dirty="0">
                <a:solidFill>
                  <a:srgbClr val="CBD5E1"/>
                </a:solidFill>
                <a:latin typeface="Inter"/>
                <a:ea typeface="Inter"/>
                <a:cs typeface="Inter"/>
                <a:sym typeface="Inter"/>
              </a:rPr>
              <a:t>0.9999</a:t>
            </a:r>
            <a:r>
              <a:rPr lang="en-US" sz="1800" b="0" i="0" u="none" strike="noStrike" cap="none" dirty="0">
                <a:solidFill>
                  <a:srgbClr val="CBD5E1"/>
                </a:solidFill>
                <a:latin typeface="Inter"/>
                <a:ea typeface="Inter"/>
                <a:cs typeface="Inter"/>
                <a:sym typeface="Inter"/>
              </a:rPr>
              <a:t>, indicating a near-perfect fit to the transaction logic.</a:t>
            </a:r>
            <a:endParaRPr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Shape 302"/>
        <p:cNvGrpSpPr/>
        <p:nvPr/>
      </p:nvGrpSpPr>
      <p:grpSpPr>
        <a:xfrm>
          <a:off x="0" y="0"/>
          <a:ext cx="0" cy="0"/>
          <a:chOff x="0" y="0"/>
          <a:chExt cx="0" cy="0"/>
        </a:xfrm>
      </p:grpSpPr>
      <p:pic>
        <p:nvPicPr>
          <p:cNvPr id="303" name="Google Shape;303;p25"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304" name="Google Shape;304;p25"/>
          <p:cNvSpPr txBox="1"/>
          <p:nvPr/>
        </p:nvSpPr>
        <p:spPr>
          <a:xfrm>
            <a:off x="771525" y="909637"/>
            <a:ext cx="4790598" cy="485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F1F5F9"/>
                </a:solidFill>
                <a:latin typeface="Inter"/>
                <a:ea typeface="Inter"/>
                <a:cs typeface="Inter"/>
                <a:sym typeface="Inter"/>
              </a:rPr>
              <a:t>Explainability (SHAP)</a:t>
            </a:r>
            <a:endParaRPr/>
          </a:p>
        </p:txBody>
      </p:sp>
      <p:sp>
        <p:nvSpPr>
          <p:cNvPr id="305" name="Google Shape;305;p25"/>
          <p:cNvSpPr txBox="1"/>
          <p:nvPr/>
        </p:nvSpPr>
        <p:spPr>
          <a:xfrm>
            <a:off x="771525" y="2157412"/>
            <a:ext cx="4562475"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CBD5E1"/>
                </a:solidFill>
                <a:latin typeface="Inter"/>
                <a:ea typeface="Inter"/>
                <a:cs typeface="Inter"/>
                <a:sym typeface="Inter"/>
              </a:rPr>
              <a:t>Using </a:t>
            </a:r>
            <a:r>
              <a:rPr lang="en-US" sz="1500" b="1" i="0" u="none" strike="noStrike" cap="none">
                <a:solidFill>
                  <a:srgbClr val="CBD5E1"/>
                </a:solidFill>
                <a:latin typeface="Inter"/>
                <a:ea typeface="Inter"/>
                <a:cs typeface="Inter"/>
                <a:sym typeface="Inter"/>
              </a:rPr>
              <a:t>SHapley Additive exPlanations</a:t>
            </a:r>
            <a:r>
              <a:rPr lang="en-US" sz="1500" b="0" i="0" u="none" strike="noStrike" cap="none">
                <a:solidFill>
                  <a:srgbClr val="CBD5E1"/>
                </a:solidFill>
                <a:latin typeface="Inter"/>
                <a:ea typeface="Inter"/>
                <a:cs typeface="Inter"/>
                <a:sym typeface="Inter"/>
              </a:rPr>
              <a:t> to interpret the "Black Box" XGBoost model.</a:t>
            </a:r>
            <a:endParaRPr/>
          </a:p>
        </p:txBody>
      </p:sp>
      <p:sp>
        <p:nvSpPr>
          <p:cNvPr id="306" name="Google Shape;306;p25"/>
          <p:cNvSpPr txBox="1"/>
          <p:nvPr/>
        </p:nvSpPr>
        <p:spPr>
          <a:xfrm>
            <a:off x="771525" y="3148012"/>
            <a:ext cx="4562475"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CBD5E1"/>
                </a:solidFill>
                <a:latin typeface="Inter"/>
                <a:ea typeface="Inter"/>
                <a:cs typeface="Inter"/>
                <a:sym typeface="Inter"/>
              </a:rPr>
              <a:t>The Beeswarm plot visualizes:</a:t>
            </a:r>
            <a:endParaRPr/>
          </a:p>
        </p:txBody>
      </p:sp>
      <p:sp>
        <p:nvSpPr>
          <p:cNvPr id="308" name="Google Shape;308;p25"/>
          <p:cNvSpPr txBox="1"/>
          <p:nvPr/>
        </p:nvSpPr>
        <p:spPr>
          <a:xfrm>
            <a:off x="1533525" y="3795712"/>
            <a:ext cx="3800475"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CBD5E1"/>
                </a:solidFill>
                <a:latin typeface="Inter"/>
                <a:ea typeface="Inter"/>
                <a:cs typeface="Inter"/>
                <a:sym typeface="Inter"/>
              </a:rPr>
              <a:t>Feature Importance:</a:t>
            </a:r>
            <a:r>
              <a:rPr lang="en-US" sz="1500" b="0" i="0" u="none" strike="noStrike" cap="none">
                <a:solidFill>
                  <a:srgbClr val="CBD5E1"/>
                </a:solidFill>
                <a:latin typeface="Inter"/>
                <a:ea typeface="Inter"/>
                <a:cs typeface="Inter"/>
                <a:sym typeface="Inter"/>
              </a:rPr>
              <a:t> Ranked top-to-bottom.</a:t>
            </a:r>
            <a:endParaRPr/>
          </a:p>
        </p:txBody>
      </p:sp>
      <p:sp>
        <p:nvSpPr>
          <p:cNvPr id="309" name="Google Shape;309;p25"/>
          <p:cNvSpPr txBox="1"/>
          <p:nvPr/>
        </p:nvSpPr>
        <p:spPr>
          <a:xfrm>
            <a:off x="1533525" y="4643437"/>
            <a:ext cx="3800475"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CBD5E1"/>
                </a:solidFill>
                <a:latin typeface="Inter"/>
                <a:ea typeface="Inter"/>
                <a:cs typeface="Inter"/>
                <a:sym typeface="Inter"/>
              </a:rPr>
              <a:t>Impact Direction:</a:t>
            </a:r>
            <a:r>
              <a:rPr lang="en-US" sz="1500" b="0" i="0" u="none" strike="noStrike" cap="none">
                <a:solidFill>
                  <a:srgbClr val="CBD5E1"/>
                </a:solidFill>
                <a:latin typeface="Inter"/>
                <a:ea typeface="Inter"/>
                <a:cs typeface="Inter"/>
                <a:sym typeface="Inter"/>
              </a:rPr>
              <a:t> Red points (High values) vs Blue points (Low values) pushing predictions left or right.</a:t>
            </a:r>
            <a:endParaRPr/>
          </a:p>
        </p:txBody>
      </p:sp>
      <p:pic>
        <p:nvPicPr>
          <p:cNvPr id="310" name="Google Shape;310;p25" descr="image.png"/>
          <p:cNvPicPr preferRelativeResize="0"/>
          <p:nvPr/>
        </p:nvPicPr>
        <p:blipFill rotWithShape="1">
          <a:blip r:embed="rId4">
            <a:alphaModFix/>
          </a:blip>
          <a:srcRect/>
          <a:stretch/>
        </p:blipFill>
        <p:spPr>
          <a:xfrm>
            <a:off x="1152525" y="3795712"/>
            <a:ext cx="200025" cy="247650"/>
          </a:xfrm>
          <a:prstGeom prst="rect">
            <a:avLst/>
          </a:prstGeom>
          <a:noFill/>
          <a:ln>
            <a:noFill/>
          </a:ln>
        </p:spPr>
      </p:pic>
      <p:pic>
        <p:nvPicPr>
          <p:cNvPr id="311" name="Google Shape;311;p25" descr="image.png"/>
          <p:cNvPicPr preferRelativeResize="0"/>
          <p:nvPr/>
        </p:nvPicPr>
        <p:blipFill rotWithShape="1">
          <a:blip r:embed="rId4">
            <a:alphaModFix/>
          </a:blip>
          <a:srcRect/>
          <a:stretch/>
        </p:blipFill>
        <p:spPr>
          <a:xfrm>
            <a:off x="1152525" y="4643437"/>
            <a:ext cx="200025" cy="247650"/>
          </a:xfrm>
          <a:prstGeom prst="rect">
            <a:avLst/>
          </a:prstGeom>
          <a:noFill/>
          <a:ln>
            <a:noFill/>
          </a:ln>
        </p:spPr>
      </p:pic>
      <p:pic>
        <p:nvPicPr>
          <p:cNvPr id="3" name="Picture 2">
            <a:extLst>
              <a:ext uri="{FF2B5EF4-FFF2-40B4-BE49-F238E27FC236}">
                <a16:creationId xmlns:a16="http://schemas.microsoft.com/office/drawing/2014/main" id="{EE20419B-2CFB-FBF1-4482-D6AE49625850}"/>
              </a:ext>
            </a:extLst>
          </p:cNvPr>
          <p:cNvPicPr>
            <a:picLocks noChangeAspect="1"/>
          </p:cNvPicPr>
          <p:nvPr/>
        </p:nvPicPr>
        <p:blipFill>
          <a:blip r:embed="rId5"/>
          <a:stretch>
            <a:fillRect/>
          </a:stretch>
        </p:blipFill>
        <p:spPr>
          <a:xfrm>
            <a:off x="5695711" y="323849"/>
            <a:ext cx="6362700" cy="625792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Shape 315"/>
        <p:cNvGrpSpPr/>
        <p:nvPr/>
      </p:nvGrpSpPr>
      <p:grpSpPr>
        <a:xfrm>
          <a:off x="0" y="0"/>
          <a:ext cx="0" cy="0"/>
          <a:chOff x="0" y="0"/>
          <a:chExt cx="0" cy="0"/>
        </a:xfrm>
      </p:grpSpPr>
      <p:pic>
        <p:nvPicPr>
          <p:cNvPr id="316" name="Google Shape;316;p26"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317" name="Google Shape;317;p26" descr="image.png"/>
          <p:cNvPicPr preferRelativeResize="0"/>
          <p:nvPr/>
        </p:nvPicPr>
        <p:blipFill rotWithShape="1">
          <a:blip r:embed="rId4">
            <a:alphaModFix/>
          </a:blip>
          <a:srcRect/>
          <a:stretch/>
        </p:blipFill>
        <p:spPr>
          <a:xfrm>
            <a:off x="581025" y="2176462"/>
            <a:ext cx="3486150" cy="3571875"/>
          </a:xfrm>
          <a:prstGeom prst="rect">
            <a:avLst/>
          </a:prstGeom>
          <a:noFill/>
          <a:ln>
            <a:noFill/>
          </a:ln>
        </p:spPr>
      </p:pic>
      <p:pic>
        <p:nvPicPr>
          <p:cNvPr id="318" name="Google Shape;318;p26" descr="image.png"/>
          <p:cNvPicPr preferRelativeResize="0"/>
          <p:nvPr/>
        </p:nvPicPr>
        <p:blipFill rotWithShape="1">
          <a:blip r:embed="rId5">
            <a:alphaModFix/>
          </a:blip>
          <a:srcRect/>
          <a:stretch/>
        </p:blipFill>
        <p:spPr>
          <a:xfrm>
            <a:off x="4352925" y="2176462"/>
            <a:ext cx="3486150" cy="3571875"/>
          </a:xfrm>
          <a:prstGeom prst="rect">
            <a:avLst/>
          </a:prstGeom>
          <a:noFill/>
          <a:ln>
            <a:noFill/>
          </a:ln>
        </p:spPr>
      </p:pic>
      <p:pic>
        <p:nvPicPr>
          <p:cNvPr id="319" name="Google Shape;319;p26" descr="image.png"/>
          <p:cNvPicPr preferRelativeResize="0"/>
          <p:nvPr/>
        </p:nvPicPr>
        <p:blipFill rotWithShape="1">
          <a:blip r:embed="rId6">
            <a:alphaModFix/>
          </a:blip>
          <a:srcRect/>
          <a:stretch/>
        </p:blipFill>
        <p:spPr>
          <a:xfrm>
            <a:off x="8124825" y="2176462"/>
            <a:ext cx="3486150" cy="3571875"/>
          </a:xfrm>
          <a:prstGeom prst="rect">
            <a:avLst/>
          </a:prstGeom>
          <a:noFill/>
          <a:ln>
            <a:noFill/>
          </a:ln>
        </p:spPr>
      </p:pic>
      <p:sp>
        <p:nvSpPr>
          <p:cNvPr id="320" name="Google Shape;320;p26"/>
          <p:cNvSpPr txBox="1"/>
          <p:nvPr/>
        </p:nvSpPr>
        <p:spPr>
          <a:xfrm>
            <a:off x="581025" y="581025"/>
            <a:ext cx="11581447" cy="495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F1F5F9"/>
                </a:solidFill>
                <a:latin typeface="Inter"/>
                <a:ea typeface="Inter"/>
                <a:cs typeface="Inter"/>
                <a:sym typeface="Inter"/>
              </a:rPr>
              <a:t>Strategic Business Insights</a:t>
            </a:r>
            <a:endParaRPr/>
          </a:p>
        </p:txBody>
      </p:sp>
      <p:sp>
        <p:nvSpPr>
          <p:cNvPr id="321" name="Google Shape;321;p26"/>
          <p:cNvSpPr/>
          <p:nvPr/>
        </p:nvSpPr>
        <p:spPr>
          <a:xfrm>
            <a:off x="581025" y="1257300"/>
            <a:ext cx="11029950"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22" name="Google Shape;322;p26"/>
          <p:cNvSpPr txBox="1"/>
          <p:nvPr/>
        </p:nvSpPr>
        <p:spPr>
          <a:xfrm>
            <a:off x="803910" y="3224212"/>
            <a:ext cx="3040380" cy="3238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60A5FA"/>
                </a:solidFill>
                <a:latin typeface="Inter"/>
                <a:ea typeface="Inter"/>
                <a:cs typeface="Inter"/>
                <a:sym typeface="Inter"/>
              </a:rPr>
              <a:t>Pricing Strategy</a:t>
            </a:r>
            <a:endParaRPr/>
          </a:p>
        </p:txBody>
      </p:sp>
      <p:sp>
        <p:nvSpPr>
          <p:cNvPr id="323" name="Google Shape;323;p26"/>
          <p:cNvSpPr txBox="1"/>
          <p:nvPr/>
        </p:nvSpPr>
        <p:spPr>
          <a:xfrm>
            <a:off x="876300" y="3738562"/>
            <a:ext cx="2895600" cy="15240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1" i="0" u="none" strike="noStrike" cap="none">
                <a:solidFill>
                  <a:srgbClr val="CBD5E1"/>
                </a:solidFill>
                <a:latin typeface="Inter"/>
                <a:ea typeface="Inter"/>
                <a:cs typeface="Inter"/>
                <a:sym typeface="Inter"/>
              </a:rPr>
              <a:t>Price</a:t>
            </a:r>
            <a:r>
              <a:rPr lang="en-US" sz="1500" b="0" i="0" u="none" strike="noStrike" cap="none">
                <a:solidFill>
                  <a:srgbClr val="CBD5E1"/>
                </a:solidFill>
                <a:latin typeface="Inter"/>
                <a:ea typeface="Inter"/>
                <a:cs typeface="Inter"/>
                <a:sym typeface="Inter"/>
              </a:rPr>
              <a:t> is the #1 predictor. Linear correlation suggests elasticity is stable. Dynamic pricing can directly scale revenue without unexpected drops in volume.</a:t>
            </a:r>
            <a:endParaRPr/>
          </a:p>
        </p:txBody>
      </p:sp>
      <p:sp>
        <p:nvSpPr>
          <p:cNvPr id="324" name="Google Shape;324;p26"/>
          <p:cNvSpPr txBox="1"/>
          <p:nvPr/>
        </p:nvSpPr>
        <p:spPr>
          <a:xfrm>
            <a:off x="4575810" y="3224212"/>
            <a:ext cx="3040380" cy="3238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60A5FA"/>
                </a:solidFill>
                <a:latin typeface="Inter"/>
                <a:ea typeface="Inter"/>
                <a:cs typeface="Inter"/>
                <a:sym typeface="Inter"/>
              </a:rPr>
              <a:t>Inventory Optimization</a:t>
            </a:r>
            <a:endParaRPr/>
          </a:p>
        </p:txBody>
      </p:sp>
      <p:sp>
        <p:nvSpPr>
          <p:cNvPr id="325" name="Google Shape;325;p26"/>
          <p:cNvSpPr txBox="1"/>
          <p:nvPr/>
        </p:nvSpPr>
        <p:spPr>
          <a:xfrm>
            <a:off x="4648200" y="3738562"/>
            <a:ext cx="2895600" cy="15240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1" i="0" u="none" strike="noStrike" cap="none">
                <a:solidFill>
                  <a:srgbClr val="CBD5E1"/>
                </a:solidFill>
                <a:latin typeface="Inter"/>
                <a:ea typeface="Inter"/>
                <a:cs typeface="Inter"/>
                <a:sym typeface="Inter"/>
              </a:rPr>
              <a:t>Clothing &amp; Shoes</a:t>
            </a:r>
            <a:r>
              <a:rPr lang="en-US" sz="1500" b="0" i="0" u="none" strike="noStrike" cap="none">
                <a:solidFill>
                  <a:srgbClr val="CBD5E1"/>
                </a:solidFill>
                <a:latin typeface="Inter"/>
                <a:ea typeface="Inter"/>
                <a:cs typeface="Inter"/>
                <a:sym typeface="Inter"/>
              </a:rPr>
              <a:t> drive 65% of volume. Stock allocation should prioritize these categories, especially in the </a:t>
            </a:r>
            <a:r>
              <a:rPr lang="en-US" sz="1500" b="1" i="0" u="none" strike="noStrike" cap="none">
                <a:solidFill>
                  <a:srgbClr val="CBD5E1"/>
                </a:solidFill>
                <a:latin typeface="Inter"/>
                <a:ea typeface="Inter"/>
                <a:cs typeface="Inter"/>
                <a:sym typeface="Inter"/>
              </a:rPr>
              <a:t>Mall of Istanbul</a:t>
            </a:r>
            <a:r>
              <a:rPr lang="en-US" sz="1500" b="0" i="0" u="none" strike="noStrike" cap="none">
                <a:solidFill>
                  <a:srgbClr val="CBD5E1"/>
                </a:solidFill>
                <a:latin typeface="Inter"/>
                <a:ea typeface="Inter"/>
                <a:cs typeface="Inter"/>
                <a:sym typeface="Inter"/>
              </a:rPr>
              <a:t>.</a:t>
            </a:r>
            <a:endParaRPr/>
          </a:p>
        </p:txBody>
      </p:sp>
      <p:sp>
        <p:nvSpPr>
          <p:cNvPr id="326" name="Google Shape;326;p26"/>
          <p:cNvSpPr txBox="1"/>
          <p:nvPr/>
        </p:nvSpPr>
        <p:spPr>
          <a:xfrm>
            <a:off x="8347710" y="3224212"/>
            <a:ext cx="3040380" cy="3238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60A5FA"/>
                </a:solidFill>
                <a:latin typeface="Inter"/>
                <a:ea typeface="Inter"/>
                <a:cs typeface="Inter"/>
                <a:sym typeface="Inter"/>
              </a:rPr>
              <a:t>Targeted Promos</a:t>
            </a:r>
            <a:endParaRPr/>
          </a:p>
        </p:txBody>
      </p:sp>
      <p:sp>
        <p:nvSpPr>
          <p:cNvPr id="327" name="Google Shape;327;p26"/>
          <p:cNvSpPr txBox="1"/>
          <p:nvPr/>
        </p:nvSpPr>
        <p:spPr>
          <a:xfrm>
            <a:off x="8420100" y="3738562"/>
            <a:ext cx="2895600" cy="15240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1" i="0" u="none" strike="noStrike" cap="none">
                <a:solidFill>
                  <a:srgbClr val="CBD5E1"/>
                </a:solidFill>
                <a:latin typeface="Inter"/>
                <a:ea typeface="Inter"/>
                <a:cs typeface="Inter"/>
                <a:sym typeface="Inter"/>
              </a:rPr>
              <a:t>Weekend &amp; Q4</a:t>
            </a:r>
            <a:r>
              <a:rPr lang="en-US" sz="1500" b="0" i="0" u="none" strike="noStrike" cap="none">
                <a:solidFill>
                  <a:srgbClr val="CBD5E1"/>
                </a:solidFill>
                <a:latin typeface="Inter"/>
                <a:ea typeface="Inter"/>
                <a:cs typeface="Inter"/>
                <a:sym typeface="Inter"/>
              </a:rPr>
              <a:t> (Nov-Dec) spikes indicate optimal windows for "Flash Sales" to maximize existing high-traffic periods.</a:t>
            </a:r>
            <a:endParaRPr/>
          </a:p>
        </p:txBody>
      </p:sp>
      <p:pic>
        <p:nvPicPr>
          <p:cNvPr id="328" name="Google Shape;328;p26" descr="image.png"/>
          <p:cNvPicPr preferRelativeResize="0"/>
          <p:nvPr/>
        </p:nvPicPr>
        <p:blipFill rotWithShape="1">
          <a:blip r:embed="rId7">
            <a:alphaModFix/>
          </a:blip>
          <a:srcRect/>
          <a:stretch/>
        </p:blipFill>
        <p:spPr>
          <a:xfrm>
            <a:off x="2095500" y="2519362"/>
            <a:ext cx="457200" cy="457200"/>
          </a:xfrm>
          <a:prstGeom prst="rect">
            <a:avLst/>
          </a:prstGeom>
          <a:noFill/>
          <a:ln>
            <a:noFill/>
          </a:ln>
        </p:spPr>
      </p:pic>
      <p:pic>
        <p:nvPicPr>
          <p:cNvPr id="329" name="Google Shape;329;p26" descr="image.png"/>
          <p:cNvPicPr preferRelativeResize="0"/>
          <p:nvPr/>
        </p:nvPicPr>
        <p:blipFill rotWithShape="1">
          <a:blip r:embed="rId8">
            <a:alphaModFix/>
          </a:blip>
          <a:srcRect/>
          <a:stretch/>
        </p:blipFill>
        <p:spPr>
          <a:xfrm>
            <a:off x="5838825" y="2519362"/>
            <a:ext cx="514350" cy="457200"/>
          </a:xfrm>
          <a:prstGeom prst="rect">
            <a:avLst/>
          </a:prstGeom>
          <a:noFill/>
          <a:ln>
            <a:noFill/>
          </a:ln>
        </p:spPr>
      </p:pic>
      <p:pic>
        <p:nvPicPr>
          <p:cNvPr id="330" name="Google Shape;330;p26" descr="image.png"/>
          <p:cNvPicPr preferRelativeResize="0"/>
          <p:nvPr/>
        </p:nvPicPr>
        <p:blipFill rotWithShape="1">
          <a:blip r:embed="rId9">
            <a:alphaModFix/>
          </a:blip>
          <a:srcRect/>
          <a:stretch/>
        </p:blipFill>
        <p:spPr>
          <a:xfrm>
            <a:off x="9667875" y="2519362"/>
            <a:ext cx="400050" cy="4572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Shape 334"/>
        <p:cNvGrpSpPr/>
        <p:nvPr/>
      </p:nvGrpSpPr>
      <p:grpSpPr>
        <a:xfrm>
          <a:off x="0" y="0"/>
          <a:ext cx="0" cy="0"/>
          <a:chOff x="0" y="0"/>
          <a:chExt cx="0" cy="0"/>
        </a:xfrm>
      </p:grpSpPr>
      <p:pic>
        <p:nvPicPr>
          <p:cNvPr id="335" name="Google Shape;335;p27"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336" name="Google Shape;336;p27"/>
          <p:cNvSpPr txBox="1"/>
          <p:nvPr/>
        </p:nvSpPr>
        <p:spPr>
          <a:xfrm>
            <a:off x="581025" y="581025"/>
            <a:ext cx="11581447" cy="495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F1F5F9"/>
                </a:solidFill>
                <a:latin typeface="Inter"/>
                <a:ea typeface="Inter"/>
                <a:cs typeface="Inter"/>
                <a:sym typeface="Inter"/>
              </a:rPr>
              <a:t>Conclusion &amp; Future Directions</a:t>
            </a:r>
            <a:endParaRPr/>
          </a:p>
        </p:txBody>
      </p:sp>
      <p:sp>
        <p:nvSpPr>
          <p:cNvPr id="337" name="Google Shape;337;p27"/>
          <p:cNvSpPr/>
          <p:nvPr/>
        </p:nvSpPr>
        <p:spPr>
          <a:xfrm>
            <a:off x="581025" y="1257300"/>
            <a:ext cx="11029950"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38" name="Google Shape;338;p27"/>
          <p:cNvSpPr txBox="1"/>
          <p:nvPr/>
        </p:nvSpPr>
        <p:spPr>
          <a:xfrm>
            <a:off x="581025" y="3000375"/>
            <a:ext cx="5490686"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10B981"/>
                </a:solidFill>
                <a:latin typeface="Inter"/>
                <a:ea typeface="Inter"/>
                <a:cs typeface="Inter"/>
                <a:sym typeface="Inter"/>
              </a:rPr>
              <a:t>Project Success</a:t>
            </a:r>
            <a:endParaRPr/>
          </a:p>
        </p:txBody>
      </p:sp>
      <p:sp>
        <p:nvSpPr>
          <p:cNvPr id="339" name="Google Shape;339;p27"/>
          <p:cNvSpPr txBox="1"/>
          <p:nvPr/>
        </p:nvSpPr>
        <p:spPr>
          <a:xfrm>
            <a:off x="581025" y="3514725"/>
            <a:ext cx="5229225" cy="1219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CBD5E1"/>
                </a:solidFill>
                <a:latin typeface="Inter"/>
                <a:ea typeface="Inter"/>
                <a:cs typeface="Inter"/>
                <a:sym typeface="Inter"/>
              </a:rPr>
              <a:t>The Capstone project successfully delivered a high-precision ML pipeline. XGBoost proved superior for this tabular regression task, providing actionable, granular sales forecasts.</a:t>
            </a:r>
            <a:endParaRPr/>
          </a:p>
        </p:txBody>
      </p:sp>
      <p:sp>
        <p:nvSpPr>
          <p:cNvPr id="340" name="Google Shape;340;p27"/>
          <p:cNvSpPr txBox="1"/>
          <p:nvPr/>
        </p:nvSpPr>
        <p:spPr>
          <a:xfrm>
            <a:off x="6381750" y="2452687"/>
            <a:ext cx="5490686"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3B82F6"/>
                </a:solidFill>
                <a:latin typeface="Inter"/>
                <a:ea typeface="Inter"/>
                <a:cs typeface="Inter"/>
                <a:sym typeface="Inter"/>
              </a:rPr>
              <a:t>Future Roadmap</a:t>
            </a:r>
            <a:endParaRPr/>
          </a:p>
        </p:txBody>
      </p:sp>
      <p:sp>
        <p:nvSpPr>
          <p:cNvPr id="341" name="Google Shape;341;p27"/>
          <p:cNvSpPr txBox="1"/>
          <p:nvPr/>
        </p:nvSpPr>
        <p:spPr>
          <a:xfrm>
            <a:off x="7143750" y="2928937"/>
            <a:ext cx="4467225"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FFFFFF"/>
                </a:solidFill>
                <a:latin typeface="Inter"/>
                <a:ea typeface="Inter"/>
                <a:cs typeface="Inter"/>
                <a:sym typeface="Inter"/>
              </a:rPr>
              <a:t>Deep Learning:</a:t>
            </a:r>
            <a:r>
              <a:rPr lang="en-US" sz="1500" b="0" i="0" u="none" strike="noStrike" cap="none">
                <a:solidFill>
                  <a:srgbClr val="CBD5E1"/>
                </a:solidFill>
                <a:latin typeface="Inter"/>
                <a:ea typeface="Inter"/>
                <a:cs typeface="Inter"/>
                <a:sym typeface="Inter"/>
              </a:rPr>
              <a:t> Implement LSTMs to better capture sequential time-series patterns.</a:t>
            </a:r>
            <a:endParaRPr/>
          </a:p>
        </p:txBody>
      </p:sp>
      <p:sp>
        <p:nvSpPr>
          <p:cNvPr id="342" name="Google Shape;342;p27"/>
          <p:cNvSpPr txBox="1"/>
          <p:nvPr/>
        </p:nvSpPr>
        <p:spPr>
          <a:xfrm>
            <a:off x="7143750" y="3776662"/>
            <a:ext cx="4467225"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FFFFFF"/>
                </a:solidFill>
                <a:latin typeface="Inter"/>
                <a:ea typeface="Inter"/>
                <a:cs typeface="Inter"/>
                <a:sym typeface="Inter"/>
              </a:rPr>
              <a:t>Real-Time API:</a:t>
            </a:r>
            <a:r>
              <a:rPr lang="en-US" sz="1500" b="0" i="0" u="none" strike="noStrike" cap="none">
                <a:solidFill>
                  <a:srgbClr val="CBD5E1"/>
                </a:solidFill>
                <a:latin typeface="Inter"/>
                <a:ea typeface="Inter"/>
                <a:cs typeface="Inter"/>
                <a:sym typeface="Inter"/>
              </a:rPr>
              <a:t> Deploy model via REST API for live dynamic pricing.</a:t>
            </a:r>
            <a:endParaRPr/>
          </a:p>
        </p:txBody>
      </p:sp>
      <p:sp>
        <p:nvSpPr>
          <p:cNvPr id="343" name="Google Shape;343;p27"/>
          <p:cNvSpPr txBox="1"/>
          <p:nvPr/>
        </p:nvSpPr>
        <p:spPr>
          <a:xfrm>
            <a:off x="7143750" y="4624387"/>
            <a:ext cx="4467225"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FFFFFF"/>
                </a:solidFill>
                <a:latin typeface="Inter"/>
                <a:ea typeface="Inter"/>
                <a:cs typeface="Inter"/>
                <a:sym typeface="Inter"/>
              </a:rPr>
              <a:t>External Data:</a:t>
            </a:r>
            <a:r>
              <a:rPr lang="en-US" sz="1500" b="0" i="0" u="none" strike="noStrike" cap="none">
                <a:solidFill>
                  <a:srgbClr val="CBD5E1"/>
                </a:solidFill>
                <a:latin typeface="Inter"/>
                <a:ea typeface="Inter"/>
                <a:cs typeface="Inter"/>
                <a:sym typeface="Inter"/>
              </a:rPr>
              <a:t> Integrate weather and economic indices for robust forecasting.</a:t>
            </a:r>
            <a:endParaRPr/>
          </a:p>
        </p:txBody>
      </p:sp>
      <p:pic>
        <p:nvPicPr>
          <p:cNvPr id="344" name="Google Shape;344;p27" descr="image.png"/>
          <p:cNvPicPr preferRelativeResize="0"/>
          <p:nvPr/>
        </p:nvPicPr>
        <p:blipFill rotWithShape="1">
          <a:blip r:embed="rId4">
            <a:alphaModFix/>
          </a:blip>
          <a:srcRect/>
          <a:stretch/>
        </p:blipFill>
        <p:spPr>
          <a:xfrm>
            <a:off x="6762750" y="2928937"/>
            <a:ext cx="200025" cy="247650"/>
          </a:xfrm>
          <a:prstGeom prst="rect">
            <a:avLst/>
          </a:prstGeom>
          <a:noFill/>
          <a:ln>
            <a:noFill/>
          </a:ln>
        </p:spPr>
      </p:pic>
      <p:pic>
        <p:nvPicPr>
          <p:cNvPr id="345" name="Google Shape;345;p27" descr="image.png"/>
          <p:cNvPicPr preferRelativeResize="0"/>
          <p:nvPr/>
        </p:nvPicPr>
        <p:blipFill rotWithShape="1">
          <a:blip r:embed="rId4">
            <a:alphaModFix/>
          </a:blip>
          <a:srcRect/>
          <a:stretch/>
        </p:blipFill>
        <p:spPr>
          <a:xfrm>
            <a:off x="6762750" y="3776662"/>
            <a:ext cx="200025" cy="247650"/>
          </a:xfrm>
          <a:prstGeom prst="rect">
            <a:avLst/>
          </a:prstGeom>
          <a:noFill/>
          <a:ln>
            <a:noFill/>
          </a:ln>
        </p:spPr>
      </p:pic>
      <p:pic>
        <p:nvPicPr>
          <p:cNvPr id="346" name="Google Shape;346;p27" descr="image.png"/>
          <p:cNvPicPr preferRelativeResize="0"/>
          <p:nvPr/>
        </p:nvPicPr>
        <p:blipFill rotWithShape="1">
          <a:blip r:embed="rId4">
            <a:alphaModFix/>
          </a:blip>
          <a:srcRect/>
          <a:stretch/>
        </p:blipFill>
        <p:spPr>
          <a:xfrm>
            <a:off x="6762750" y="4624387"/>
            <a:ext cx="200025" cy="2476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Shape 350"/>
        <p:cNvGrpSpPr/>
        <p:nvPr/>
      </p:nvGrpSpPr>
      <p:grpSpPr>
        <a:xfrm>
          <a:off x="0" y="0"/>
          <a:ext cx="0" cy="0"/>
          <a:chOff x="0" y="0"/>
          <a:chExt cx="0" cy="0"/>
        </a:xfrm>
      </p:grpSpPr>
      <p:pic>
        <p:nvPicPr>
          <p:cNvPr id="351" name="Google Shape;351;p28"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352" name="Google Shape;352;p28"/>
          <p:cNvSpPr txBox="1"/>
          <p:nvPr/>
        </p:nvSpPr>
        <p:spPr>
          <a:xfrm>
            <a:off x="305276" y="1866007"/>
            <a:ext cx="11581447" cy="13811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9000" b="1" i="0" u="none" strike="noStrike" cap="none">
                <a:solidFill>
                  <a:srgbClr val="10B981"/>
                </a:solidFill>
                <a:latin typeface="Inter"/>
                <a:ea typeface="Inter"/>
                <a:cs typeface="Inter"/>
                <a:sym typeface="Inter"/>
              </a:rPr>
              <a:t>Q&amp;A</a:t>
            </a:r>
            <a:endParaRPr/>
          </a:p>
        </p:txBody>
      </p:sp>
      <p:sp>
        <p:nvSpPr>
          <p:cNvPr id="353" name="Google Shape;353;p28"/>
          <p:cNvSpPr txBox="1"/>
          <p:nvPr/>
        </p:nvSpPr>
        <p:spPr>
          <a:xfrm>
            <a:off x="581025" y="3666232"/>
            <a:ext cx="11029950" cy="365670"/>
          </a:xfrm>
          <a:prstGeom prst="rect">
            <a:avLst/>
          </a:prstGeom>
          <a:noFill/>
          <a:ln>
            <a:noFill/>
          </a:ln>
        </p:spPr>
        <p:txBody>
          <a:bodyPr spcFirstLastPara="1" wrap="square" lIns="0" tIns="0" rIns="0" bIns="0" anchor="t" anchorCtr="0">
            <a:spAutoFit/>
          </a:bodyPr>
          <a:lstStyle/>
          <a:p>
            <a:pPr marL="0" marR="0" lvl="0" indent="0" algn="ctr" rtl="0">
              <a:lnSpc>
                <a:spcPct val="159944"/>
              </a:lnSpc>
              <a:spcBef>
                <a:spcPts val="0"/>
              </a:spcBef>
              <a:spcAft>
                <a:spcPts val="0"/>
              </a:spcAft>
              <a:buNone/>
            </a:pPr>
            <a:r>
              <a:rPr lang="en-US" sz="1800" b="0" i="0" u="none" strike="noStrike" cap="none">
                <a:solidFill>
                  <a:srgbClr val="94A3B8"/>
                </a:solidFill>
                <a:latin typeface="Inter"/>
                <a:ea typeface="Inter"/>
                <a:cs typeface="Inter"/>
                <a:sym typeface="Inter"/>
              </a:rPr>
              <a:t>Thank you for your attention.</a:t>
            </a:r>
            <a:endParaRPr/>
          </a:p>
        </p:txBody>
      </p:sp>
      <p:sp>
        <p:nvSpPr>
          <p:cNvPr id="354" name="Google Shape;354;p28"/>
          <p:cNvSpPr txBox="1"/>
          <p:nvPr/>
        </p:nvSpPr>
        <p:spPr>
          <a:xfrm>
            <a:off x="581025" y="4546252"/>
            <a:ext cx="11029950" cy="27429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350" b="0" i="0" u="none" strike="noStrike" cap="none">
                <a:solidFill>
                  <a:srgbClr val="CBD5E1"/>
                </a:solidFill>
                <a:latin typeface="Inter"/>
                <a:ea typeface="Inter"/>
                <a:cs typeface="Inter"/>
                <a:sym typeface="Inter"/>
              </a:rPr>
              <a:t>Retail Sales Prediction Capstone</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928</Words>
  <Application>Microsoft Office PowerPoint</Application>
  <PresentationFormat>Widescreen</PresentationFormat>
  <Paragraphs>119</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Calibri</vt:lpstr>
      <vt:lpstr>Arial</vt:lpstr>
      <vt:lpstr>Inter</vt:lpstr>
      <vt:lpstr>JetBrains Mono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Tonny Ouma</dc:creator>
  <cp:lastModifiedBy>Tonny Ouma</cp:lastModifiedBy>
  <cp:revision>1</cp:revision>
  <dcterms:modified xsi:type="dcterms:W3CDTF">2025-11-27T08:44:09Z</dcterms:modified>
</cp:coreProperties>
</file>